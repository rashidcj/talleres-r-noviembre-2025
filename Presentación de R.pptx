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62" r:id="rId2"/>
    <p:sldId id="363" r:id="rId3"/>
    <p:sldId id="364" r:id="rId4"/>
    <p:sldId id="258" r:id="rId5"/>
    <p:sldId id="260" r:id="rId6"/>
    <p:sldId id="261" r:id="rId7"/>
    <p:sldId id="262" r:id="rId8"/>
    <p:sldId id="263" r:id="rId9"/>
    <p:sldId id="365" r:id="rId10"/>
    <p:sldId id="264" r:id="rId11"/>
  </p:sldIdLst>
  <p:sldSz cx="12192000" cy="6858000"/>
  <p:notesSz cx="6858000" cy="9144000"/>
  <p:defaultTextStyle>
    <a:defPPr>
      <a:defRPr lang="es-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2F69A-42BC-6F49-B9EF-CC5E041230A9}" v="1" dt="2025-11-12T18:29:25.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p:restoredTop sz="94598"/>
  </p:normalViewPr>
  <p:slideViewPr>
    <p:cSldViewPr snapToGrid="0">
      <p:cViewPr varScale="1">
        <p:scale>
          <a:sx n="119" d="100"/>
          <a:sy n="119" d="100"/>
        </p:scale>
        <p:origin x="4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05D0601-3552-41F6-A711-99F3ADAA0065}"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E8BBB3AB-D241-4B65-932B-ABC372E38D98}">
      <dgm:prSet/>
      <dgm:spPr/>
      <dgm:t>
        <a:bodyPr/>
        <a:lstStyle/>
        <a:p>
          <a:r>
            <a:rPr lang="es-ES_tradnl"/>
            <a:t>Antes de continuar, haremos unos cambios a las opciones globales (síganme en las computadoras del salón). Si están en sus casas leyendo la presentación o seteándolo en sus computadoras personales, acceden a estas opciones en el menú del programa yendo a Herramientas (</a:t>
          </a:r>
          <a:r>
            <a:rPr lang="es-ES_tradnl" i="1"/>
            <a:t>Tools</a:t>
          </a:r>
          <a:r>
            <a:rPr lang="es-ES_tradnl"/>
            <a:t>) y bajando a la última opción encontrarán </a:t>
          </a:r>
          <a:r>
            <a:rPr lang="es-ES_tradnl" i="1"/>
            <a:t>Global Options</a:t>
          </a:r>
          <a:r>
            <a:rPr lang="es-ES_tradnl"/>
            <a:t> u Opciones Globales.</a:t>
          </a:r>
          <a:endParaRPr lang="en-US"/>
        </a:p>
      </dgm:t>
    </dgm:pt>
    <dgm:pt modelId="{2FFF0999-926D-4EA6-9FE2-7AF501D1F0AB}" type="parTrans" cxnId="{9C99056E-D83D-407F-BA5C-F3DF261844EF}">
      <dgm:prSet/>
      <dgm:spPr/>
      <dgm:t>
        <a:bodyPr/>
        <a:lstStyle/>
        <a:p>
          <a:endParaRPr lang="en-US"/>
        </a:p>
      </dgm:t>
    </dgm:pt>
    <dgm:pt modelId="{948256B2-B8F1-43DB-9926-42872B003E54}" type="sibTrans" cxnId="{9C99056E-D83D-407F-BA5C-F3DF261844EF}">
      <dgm:prSet phldrT="01"/>
      <dgm:spPr/>
      <dgm:t>
        <a:bodyPr/>
        <a:lstStyle/>
        <a:p>
          <a:r>
            <a:rPr lang="en-US"/>
            <a:t>01</a:t>
          </a:r>
        </a:p>
      </dgm:t>
    </dgm:pt>
    <dgm:pt modelId="{AECBB89E-7A26-447B-9C36-35774E6C9EEE}">
      <dgm:prSet/>
      <dgm:spPr/>
      <dgm:t>
        <a:bodyPr/>
        <a:lstStyle/>
        <a:p>
          <a:r>
            <a:rPr lang="es-ES_tradnl"/>
            <a:t>En el menú, vayan a la opción General, cambien las siguientes opciones: en espacio de trabajo (</a:t>
          </a:r>
          <a:r>
            <a:rPr lang="es-ES_tradnl" i="1"/>
            <a:t>Workspace</a:t>
          </a:r>
          <a:r>
            <a:rPr lang="es-ES_tradnl"/>
            <a:t>) desactiven Restaurar .RData en el espacio de trabajo al iniciar y pongan la opción de Nunca en Guardar espacio de trabajo en .RData al salir.</a:t>
          </a:r>
          <a:endParaRPr lang="en-US"/>
        </a:p>
      </dgm:t>
    </dgm:pt>
    <dgm:pt modelId="{DFA15F28-0AA9-4615-BF71-73F14AD9CDF5}" type="parTrans" cxnId="{B08E72B3-AD7C-4054-B28F-630CF19CAA6A}">
      <dgm:prSet/>
      <dgm:spPr/>
      <dgm:t>
        <a:bodyPr/>
        <a:lstStyle/>
        <a:p>
          <a:endParaRPr lang="en-US"/>
        </a:p>
      </dgm:t>
    </dgm:pt>
    <dgm:pt modelId="{367FF9E8-CABB-48E7-8640-E39F0A9029E3}" type="sibTrans" cxnId="{B08E72B3-AD7C-4054-B28F-630CF19CAA6A}">
      <dgm:prSet phldrT="02"/>
      <dgm:spPr/>
      <dgm:t>
        <a:bodyPr/>
        <a:lstStyle/>
        <a:p>
          <a:r>
            <a:rPr lang="en-US"/>
            <a:t>02</a:t>
          </a:r>
        </a:p>
      </dgm:t>
    </dgm:pt>
    <dgm:pt modelId="{9B9BE139-F8C1-4099-A395-82C5C388A19D}">
      <dgm:prSet/>
      <dgm:spPr/>
      <dgm:t>
        <a:bodyPr/>
        <a:lstStyle/>
        <a:p>
          <a:r>
            <a:rPr lang="es-ES_tradnl"/>
            <a:t>En el menú, vayan a la opción Código (</a:t>
          </a:r>
          <a:r>
            <a:rPr lang="es-ES_tradnl" i="1"/>
            <a:t>Code</a:t>
          </a:r>
          <a:r>
            <a:rPr lang="es-ES_tradnl"/>
            <a:t>). En las pestañas vayan a Guardado (</a:t>
          </a:r>
          <a:r>
            <a:rPr lang="es-ES_tradnl" i="1"/>
            <a:t>Saving</a:t>
          </a:r>
          <a:r>
            <a:rPr lang="es-ES_tradnl"/>
            <a:t>) y seleccionen codificación UTF-8. Seleccionen Aplicar cambios (</a:t>
          </a:r>
          <a:r>
            <a:rPr lang="es-ES_tradnl" i="1"/>
            <a:t>Apply</a:t>
          </a:r>
          <a:r>
            <a:rPr lang="es-ES_tradnl"/>
            <a:t>).</a:t>
          </a:r>
          <a:endParaRPr lang="en-US"/>
        </a:p>
      </dgm:t>
    </dgm:pt>
    <dgm:pt modelId="{6653F1AA-AFF8-4D84-849A-B5C17C383092}" type="parTrans" cxnId="{47082E3D-B353-45BE-A30F-EC83B8FFB351}">
      <dgm:prSet/>
      <dgm:spPr/>
      <dgm:t>
        <a:bodyPr/>
        <a:lstStyle/>
        <a:p>
          <a:endParaRPr lang="en-US"/>
        </a:p>
      </dgm:t>
    </dgm:pt>
    <dgm:pt modelId="{E800B82B-AF8B-412B-A087-85AAC1D8CE2A}" type="sibTrans" cxnId="{47082E3D-B353-45BE-A30F-EC83B8FFB351}">
      <dgm:prSet phldrT="03"/>
      <dgm:spPr/>
      <dgm:t>
        <a:bodyPr/>
        <a:lstStyle/>
        <a:p>
          <a:r>
            <a:rPr lang="en-US"/>
            <a:t>03</a:t>
          </a:r>
        </a:p>
      </dgm:t>
    </dgm:pt>
    <dgm:pt modelId="{68F90C76-D469-4748-B570-0916737F6C01}" type="pres">
      <dgm:prSet presAssocID="{005D0601-3552-41F6-A711-99F3ADAA0065}" presName="Name0" presStyleCnt="0">
        <dgm:presLayoutVars>
          <dgm:animLvl val="lvl"/>
          <dgm:resizeHandles val="exact"/>
        </dgm:presLayoutVars>
      </dgm:prSet>
      <dgm:spPr/>
    </dgm:pt>
    <dgm:pt modelId="{72B75F0A-9221-5940-868A-58B6E52D2255}" type="pres">
      <dgm:prSet presAssocID="{E8BBB3AB-D241-4B65-932B-ABC372E38D98}" presName="compositeNode" presStyleCnt="0">
        <dgm:presLayoutVars>
          <dgm:bulletEnabled val="1"/>
        </dgm:presLayoutVars>
      </dgm:prSet>
      <dgm:spPr/>
    </dgm:pt>
    <dgm:pt modelId="{A4BC10D5-ACBA-FE49-A138-3C40D90D9185}" type="pres">
      <dgm:prSet presAssocID="{E8BBB3AB-D241-4B65-932B-ABC372E38D98}" presName="bgRect" presStyleLbl="alignNode1" presStyleIdx="0" presStyleCnt="3"/>
      <dgm:spPr/>
    </dgm:pt>
    <dgm:pt modelId="{11C65CE2-D8A6-1B4F-A692-1C5FE2DFBD70}" type="pres">
      <dgm:prSet presAssocID="{948256B2-B8F1-43DB-9926-42872B003E54}" presName="sibTransNodeRect" presStyleLbl="alignNode1" presStyleIdx="0" presStyleCnt="3">
        <dgm:presLayoutVars>
          <dgm:chMax val="0"/>
          <dgm:bulletEnabled val="1"/>
        </dgm:presLayoutVars>
      </dgm:prSet>
      <dgm:spPr/>
    </dgm:pt>
    <dgm:pt modelId="{764A16A1-B285-BA45-A0DF-03FB03486BE9}" type="pres">
      <dgm:prSet presAssocID="{E8BBB3AB-D241-4B65-932B-ABC372E38D98}" presName="nodeRect" presStyleLbl="alignNode1" presStyleIdx="0" presStyleCnt="3">
        <dgm:presLayoutVars>
          <dgm:bulletEnabled val="1"/>
        </dgm:presLayoutVars>
      </dgm:prSet>
      <dgm:spPr/>
    </dgm:pt>
    <dgm:pt modelId="{D779B35B-749E-2744-AE7E-3DAD058E24C0}" type="pres">
      <dgm:prSet presAssocID="{948256B2-B8F1-43DB-9926-42872B003E54}" presName="sibTrans" presStyleCnt="0"/>
      <dgm:spPr/>
    </dgm:pt>
    <dgm:pt modelId="{2E7F66C8-8649-914B-BC16-28AB349B4622}" type="pres">
      <dgm:prSet presAssocID="{AECBB89E-7A26-447B-9C36-35774E6C9EEE}" presName="compositeNode" presStyleCnt="0">
        <dgm:presLayoutVars>
          <dgm:bulletEnabled val="1"/>
        </dgm:presLayoutVars>
      </dgm:prSet>
      <dgm:spPr/>
    </dgm:pt>
    <dgm:pt modelId="{226799A0-4866-AF40-B4CC-7195CE0D1B4F}" type="pres">
      <dgm:prSet presAssocID="{AECBB89E-7A26-447B-9C36-35774E6C9EEE}" presName="bgRect" presStyleLbl="alignNode1" presStyleIdx="1" presStyleCnt="3"/>
      <dgm:spPr/>
    </dgm:pt>
    <dgm:pt modelId="{F07D1225-4006-D54B-BFCB-40F806E085D5}" type="pres">
      <dgm:prSet presAssocID="{367FF9E8-CABB-48E7-8640-E39F0A9029E3}" presName="sibTransNodeRect" presStyleLbl="alignNode1" presStyleIdx="1" presStyleCnt="3">
        <dgm:presLayoutVars>
          <dgm:chMax val="0"/>
          <dgm:bulletEnabled val="1"/>
        </dgm:presLayoutVars>
      </dgm:prSet>
      <dgm:spPr/>
    </dgm:pt>
    <dgm:pt modelId="{AF736C1D-8473-0F42-9249-26128931ADBC}" type="pres">
      <dgm:prSet presAssocID="{AECBB89E-7A26-447B-9C36-35774E6C9EEE}" presName="nodeRect" presStyleLbl="alignNode1" presStyleIdx="1" presStyleCnt="3">
        <dgm:presLayoutVars>
          <dgm:bulletEnabled val="1"/>
        </dgm:presLayoutVars>
      </dgm:prSet>
      <dgm:spPr/>
    </dgm:pt>
    <dgm:pt modelId="{987D4EBE-91F7-3445-87F9-0BF76F972C6F}" type="pres">
      <dgm:prSet presAssocID="{367FF9E8-CABB-48E7-8640-E39F0A9029E3}" presName="sibTrans" presStyleCnt="0"/>
      <dgm:spPr/>
    </dgm:pt>
    <dgm:pt modelId="{718ECD7B-2D96-224B-BBC6-ABB383DE505D}" type="pres">
      <dgm:prSet presAssocID="{9B9BE139-F8C1-4099-A395-82C5C388A19D}" presName="compositeNode" presStyleCnt="0">
        <dgm:presLayoutVars>
          <dgm:bulletEnabled val="1"/>
        </dgm:presLayoutVars>
      </dgm:prSet>
      <dgm:spPr/>
    </dgm:pt>
    <dgm:pt modelId="{91E5FBDB-9D9D-D449-90E8-3E4CE4C21B7F}" type="pres">
      <dgm:prSet presAssocID="{9B9BE139-F8C1-4099-A395-82C5C388A19D}" presName="bgRect" presStyleLbl="alignNode1" presStyleIdx="2" presStyleCnt="3"/>
      <dgm:spPr/>
    </dgm:pt>
    <dgm:pt modelId="{83FAF0A0-FBE2-0D4D-9650-95E2543A7DA9}" type="pres">
      <dgm:prSet presAssocID="{E800B82B-AF8B-412B-A087-85AAC1D8CE2A}" presName="sibTransNodeRect" presStyleLbl="alignNode1" presStyleIdx="2" presStyleCnt="3">
        <dgm:presLayoutVars>
          <dgm:chMax val="0"/>
          <dgm:bulletEnabled val="1"/>
        </dgm:presLayoutVars>
      </dgm:prSet>
      <dgm:spPr/>
    </dgm:pt>
    <dgm:pt modelId="{55E14998-FDDD-8B48-B141-9F5C52B48DD7}" type="pres">
      <dgm:prSet presAssocID="{9B9BE139-F8C1-4099-A395-82C5C388A19D}" presName="nodeRect" presStyleLbl="alignNode1" presStyleIdx="2" presStyleCnt="3">
        <dgm:presLayoutVars>
          <dgm:bulletEnabled val="1"/>
        </dgm:presLayoutVars>
      </dgm:prSet>
      <dgm:spPr/>
    </dgm:pt>
  </dgm:ptLst>
  <dgm:cxnLst>
    <dgm:cxn modelId="{73861A1A-6171-824A-96EB-7251D3BE9BB3}" type="presOf" srcId="{9B9BE139-F8C1-4099-A395-82C5C388A19D}" destId="{55E14998-FDDD-8B48-B141-9F5C52B48DD7}" srcOrd="1" destOrd="0" presId="urn:microsoft.com/office/officeart/2016/7/layout/LinearBlockProcessNumbered"/>
    <dgm:cxn modelId="{D628081C-A2D6-AF46-8353-67F767D01F30}" type="presOf" srcId="{9B9BE139-F8C1-4099-A395-82C5C388A19D}" destId="{91E5FBDB-9D9D-D449-90E8-3E4CE4C21B7F}" srcOrd="0" destOrd="0" presId="urn:microsoft.com/office/officeart/2016/7/layout/LinearBlockProcessNumbered"/>
    <dgm:cxn modelId="{1B045030-E36B-3E44-8650-E1978629127C}" type="presOf" srcId="{E8BBB3AB-D241-4B65-932B-ABC372E38D98}" destId="{A4BC10D5-ACBA-FE49-A138-3C40D90D9185}" srcOrd="0" destOrd="0" presId="urn:microsoft.com/office/officeart/2016/7/layout/LinearBlockProcessNumbered"/>
    <dgm:cxn modelId="{47082E3D-B353-45BE-A30F-EC83B8FFB351}" srcId="{005D0601-3552-41F6-A711-99F3ADAA0065}" destId="{9B9BE139-F8C1-4099-A395-82C5C388A19D}" srcOrd="2" destOrd="0" parTransId="{6653F1AA-AFF8-4D84-849A-B5C17C383092}" sibTransId="{E800B82B-AF8B-412B-A087-85AAC1D8CE2A}"/>
    <dgm:cxn modelId="{8CF7F042-6433-694E-BB08-D5A48552E8DE}" type="presOf" srcId="{E8BBB3AB-D241-4B65-932B-ABC372E38D98}" destId="{764A16A1-B285-BA45-A0DF-03FB03486BE9}" srcOrd="1" destOrd="0" presId="urn:microsoft.com/office/officeart/2016/7/layout/LinearBlockProcessNumbered"/>
    <dgm:cxn modelId="{CD60CE63-C6E1-4C49-9B92-CC6F9A726717}" type="presOf" srcId="{367FF9E8-CABB-48E7-8640-E39F0A9029E3}" destId="{F07D1225-4006-D54B-BFCB-40F806E085D5}" srcOrd="0" destOrd="0" presId="urn:microsoft.com/office/officeart/2016/7/layout/LinearBlockProcessNumbered"/>
    <dgm:cxn modelId="{9C99056E-D83D-407F-BA5C-F3DF261844EF}" srcId="{005D0601-3552-41F6-A711-99F3ADAA0065}" destId="{E8BBB3AB-D241-4B65-932B-ABC372E38D98}" srcOrd="0" destOrd="0" parTransId="{2FFF0999-926D-4EA6-9FE2-7AF501D1F0AB}" sibTransId="{948256B2-B8F1-43DB-9926-42872B003E54}"/>
    <dgm:cxn modelId="{A885DE7A-2999-864F-8F7A-916EFD15DF35}" type="presOf" srcId="{AECBB89E-7A26-447B-9C36-35774E6C9EEE}" destId="{226799A0-4866-AF40-B4CC-7195CE0D1B4F}" srcOrd="0" destOrd="0" presId="urn:microsoft.com/office/officeart/2016/7/layout/LinearBlockProcessNumbered"/>
    <dgm:cxn modelId="{B8FF058F-7B9F-BE42-8770-BD73D0773DFB}" type="presOf" srcId="{948256B2-B8F1-43DB-9926-42872B003E54}" destId="{11C65CE2-D8A6-1B4F-A692-1C5FE2DFBD70}" srcOrd="0" destOrd="0" presId="urn:microsoft.com/office/officeart/2016/7/layout/LinearBlockProcessNumbered"/>
    <dgm:cxn modelId="{0D09D0A8-F377-B446-88D3-B3A9D49A0EC0}" type="presOf" srcId="{AECBB89E-7A26-447B-9C36-35774E6C9EEE}" destId="{AF736C1D-8473-0F42-9249-26128931ADBC}" srcOrd="1" destOrd="0" presId="urn:microsoft.com/office/officeart/2016/7/layout/LinearBlockProcessNumbered"/>
    <dgm:cxn modelId="{B08E72B3-AD7C-4054-B28F-630CF19CAA6A}" srcId="{005D0601-3552-41F6-A711-99F3ADAA0065}" destId="{AECBB89E-7A26-447B-9C36-35774E6C9EEE}" srcOrd="1" destOrd="0" parTransId="{DFA15F28-0AA9-4615-BF71-73F14AD9CDF5}" sibTransId="{367FF9E8-CABB-48E7-8640-E39F0A9029E3}"/>
    <dgm:cxn modelId="{151D74FA-8A84-9A41-B36E-DB45D6717560}" type="presOf" srcId="{005D0601-3552-41F6-A711-99F3ADAA0065}" destId="{68F90C76-D469-4748-B570-0916737F6C01}" srcOrd="0" destOrd="0" presId="urn:microsoft.com/office/officeart/2016/7/layout/LinearBlockProcessNumbered"/>
    <dgm:cxn modelId="{24777CFB-BA62-C64E-A728-FF009FBE0F56}" type="presOf" srcId="{E800B82B-AF8B-412B-A087-85AAC1D8CE2A}" destId="{83FAF0A0-FBE2-0D4D-9650-95E2543A7DA9}" srcOrd="0" destOrd="0" presId="urn:microsoft.com/office/officeart/2016/7/layout/LinearBlockProcessNumbered"/>
    <dgm:cxn modelId="{01F7AD69-81F5-094B-B596-28C323833726}" type="presParOf" srcId="{68F90C76-D469-4748-B570-0916737F6C01}" destId="{72B75F0A-9221-5940-868A-58B6E52D2255}" srcOrd="0" destOrd="0" presId="urn:microsoft.com/office/officeart/2016/7/layout/LinearBlockProcessNumbered"/>
    <dgm:cxn modelId="{3C56E77B-0284-7A4F-9E29-D3BFFA162DFA}" type="presParOf" srcId="{72B75F0A-9221-5940-868A-58B6E52D2255}" destId="{A4BC10D5-ACBA-FE49-A138-3C40D90D9185}" srcOrd="0" destOrd="0" presId="urn:microsoft.com/office/officeart/2016/7/layout/LinearBlockProcessNumbered"/>
    <dgm:cxn modelId="{BE497329-B976-1F45-B8F7-C0FDC76B9A05}" type="presParOf" srcId="{72B75F0A-9221-5940-868A-58B6E52D2255}" destId="{11C65CE2-D8A6-1B4F-A692-1C5FE2DFBD70}" srcOrd="1" destOrd="0" presId="urn:microsoft.com/office/officeart/2016/7/layout/LinearBlockProcessNumbered"/>
    <dgm:cxn modelId="{B90041CF-360D-F640-A509-2CF681F7CE45}" type="presParOf" srcId="{72B75F0A-9221-5940-868A-58B6E52D2255}" destId="{764A16A1-B285-BA45-A0DF-03FB03486BE9}" srcOrd="2" destOrd="0" presId="urn:microsoft.com/office/officeart/2016/7/layout/LinearBlockProcessNumbered"/>
    <dgm:cxn modelId="{6CD2189D-8AC1-9141-8210-D3361458ADEA}" type="presParOf" srcId="{68F90C76-D469-4748-B570-0916737F6C01}" destId="{D779B35B-749E-2744-AE7E-3DAD058E24C0}" srcOrd="1" destOrd="0" presId="urn:microsoft.com/office/officeart/2016/7/layout/LinearBlockProcessNumbered"/>
    <dgm:cxn modelId="{F843E057-D0BE-534C-B0B6-22D4BEC1DAAF}" type="presParOf" srcId="{68F90C76-D469-4748-B570-0916737F6C01}" destId="{2E7F66C8-8649-914B-BC16-28AB349B4622}" srcOrd="2" destOrd="0" presId="urn:microsoft.com/office/officeart/2016/7/layout/LinearBlockProcessNumbered"/>
    <dgm:cxn modelId="{4456446E-CB04-B747-949D-121E0A0AA7B8}" type="presParOf" srcId="{2E7F66C8-8649-914B-BC16-28AB349B4622}" destId="{226799A0-4866-AF40-B4CC-7195CE0D1B4F}" srcOrd="0" destOrd="0" presId="urn:microsoft.com/office/officeart/2016/7/layout/LinearBlockProcessNumbered"/>
    <dgm:cxn modelId="{8315FA80-B6A8-7647-8432-88AD4975E867}" type="presParOf" srcId="{2E7F66C8-8649-914B-BC16-28AB349B4622}" destId="{F07D1225-4006-D54B-BFCB-40F806E085D5}" srcOrd="1" destOrd="0" presId="urn:microsoft.com/office/officeart/2016/7/layout/LinearBlockProcessNumbered"/>
    <dgm:cxn modelId="{29C56ECC-36C4-674D-9307-61311C7345F2}" type="presParOf" srcId="{2E7F66C8-8649-914B-BC16-28AB349B4622}" destId="{AF736C1D-8473-0F42-9249-26128931ADBC}" srcOrd="2" destOrd="0" presId="urn:microsoft.com/office/officeart/2016/7/layout/LinearBlockProcessNumbered"/>
    <dgm:cxn modelId="{8FE499BC-99A6-644A-87FA-E79F1359CB25}" type="presParOf" srcId="{68F90C76-D469-4748-B570-0916737F6C01}" destId="{987D4EBE-91F7-3445-87F9-0BF76F972C6F}" srcOrd="3" destOrd="0" presId="urn:microsoft.com/office/officeart/2016/7/layout/LinearBlockProcessNumbered"/>
    <dgm:cxn modelId="{598B9528-C8A8-0F47-A700-EDC638CD46AE}" type="presParOf" srcId="{68F90C76-D469-4748-B570-0916737F6C01}" destId="{718ECD7B-2D96-224B-BBC6-ABB383DE505D}" srcOrd="4" destOrd="0" presId="urn:microsoft.com/office/officeart/2016/7/layout/LinearBlockProcessNumbered"/>
    <dgm:cxn modelId="{7BAF9B4B-7AB4-EC44-9ACD-88B498DD06F9}" type="presParOf" srcId="{718ECD7B-2D96-224B-BBC6-ABB383DE505D}" destId="{91E5FBDB-9D9D-D449-90E8-3E4CE4C21B7F}" srcOrd="0" destOrd="0" presId="urn:microsoft.com/office/officeart/2016/7/layout/LinearBlockProcessNumbered"/>
    <dgm:cxn modelId="{60F4D802-F565-8249-90DC-7BB7D8150E19}" type="presParOf" srcId="{718ECD7B-2D96-224B-BBC6-ABB383DE505D}" destId="{83FAF0A0-FBE2-0D4D-9650-95E2543A7DA9}" srcOrd="1" destOrd="0" presId="urn:microsoft.com/office/officeart/2016/7/layout/LinearBlockProcessNumbered"/>
    <dgm:cxn modelId="{820C654C-5AFB-0240-B1C4-3BDA1938F620}" type="presParOf" srcId="{718ECD7B-2D96-224B-BBC6-ABB383DE505D}" destId="{55E14998-FDDD-8B48-B141-9F5C52B48DD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799CD2-97EC-4E43-9D74-1FBA79E35DB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94DA2C-BA76-4425-ABED-D1D19C7CD205}">
      <dgm:prSet/>
      <dgm:spPr/>
      <dgm:t>
        <a:bodyPr/>
        <a:lstStyle/>
        <a:p>
          <a:pPr>
            <a:lnSpc>
              <a:spcPct val="100000"/>
            </a:lnSpc>
          </a:pPr>
          <a:r>
            <a:rPr lang="es-ES_tradnl"/>
            <a:t>Los paquetes añaden funcionalidades al programa base.  Uno puede instalar paquetes a la librería del programa con la función install.packages().</a:t>
          </a:r>
          <a:endParaRPr lang="en-US"/>
        </a:p>
      </dgm:t>
    </dgm:pt>
    <dgm:pt modelId="{A864B85E-D659-4701-BBF2-0EA7823A43D4}" type="parTrans" cxnId="{2B4D65A4-FFF7-4592-B1E1-09C3F8CB88AA}">
      <dgm:prSet/>
      <dgm:spPr/>
      <dgm:t>
        <a:bodyPr/>
        <a:lstStyle/>
        <a:p>
          <a:endParaRPr lang="en-US"/>
        </a:p>
      </dgm:t>
    </dgm:pt>
    <dgm:pt modelId="{547F5D8F-995C-484D-B88C-43E86273C2ED}" type="sibTrans" cxnId="{2B4D65A4-FFF7-4592-B1E1-09C3F8CB88AA}">
      <dgm:prSet/>
      <dgm:spPr/>
      <dgm:t>
        <a:bodyPr/>
        <a:lstStyle/>
        <a:p>
          <a:endParaRPr lang="en-US"/>
        </a:p>
      </dgm:t>
    </dgm:pt>
    <dgm:pt modelId="{1B58CBEA-2549-4ABE-A6CD-61E5B831439D}">
      <dgm:prSet/>
      <dgm:spPr/>
      <dgm:t>
        <a:bodyPr/>
        <a:lstStyle/>
        <a:p>
          <a:pPr>
            <a:lnSpc>
              <a:spcPct val="100000"/>
            </a:lnSpc>
          </a:pPr>
          <a:r>
            <a:rPr lang="es-ES_tradnl"/>
            <a:t>Pueden por ejemplo instalar el paquete que usaremos del libro de Irizarry (dslabs) al escribir install.packages("dslabs"). También pueden instalar varios paquetes a la vez concatenando los paquetes deseados con la función adicional c(), es decir install.packages(c("dslabs","tidyverse")). </a:t>
          </a:r>
          <a:endParaRPr lang="en-US"/>
        </a:p>
      </dgm:t>
    </dgm:pt>
    <dgm:pt modelId="{B054CA3E-174A-4984-A5BA-217FB5A377D8}" type="parTrans" cxnId="{8E6B9030-ECE7-4061-B390-6D457EB573E4}">
      <dgm:prSet/>
      <dgm:spPr/>
      <dgm:t>
        <a:bodyPr/>
        <a:lstStyle/>
        <a:p>
          <a:endParaRPr lang="en-US"/>
        </a:p>
      </dgm:t>
    </dgm:pt>
    <dgm:pt modelId="{F3BE96D8-2B8F-4296-B0B6-B6A641C99262}" type="sibTrans" cxnId="{8E6B9030-ECE7-4061-B390-6D457EB573E4}">
      <dgm:prSet/>
      <dgm:spPr/>
      <dgm:t>
        <a:bodyPr/>
        <a:lstStyle/>
        <a:p>
          <a:endParaRPr lang="en-US"/>
        </a:p>
      </dgm:t>
    </dgm:pt>
    <dgm:pt modelId="{1A483B15-E886-4FA6-97E1-DB70E16D395F}">
      <dgm:prSet/>
      <dgm:spPr/>
      <dgm:t>
        <a:bodyPr/>
        <a:lstStyle/>
        <a:p>
          <a:pPr>
            <a:lnSpc>
              <a:spcPct val="100000"/>
            </a:lnSpc>
          </a:pPr>
          <a:r>
            <a:rPr lang="es-ES_tradnl"/>
            <a:t>Si necesitan una de estas funcionalidades o paquetes, los llamarán para activación usando la función library(), por ejemplo library(tidyverse).</a:t>
          </a:r>
          <a:endParaRPr lang="en-US"/>
        </a:p>
      </dgm:t>
    </dgm:pt>
    <dgm:pt modelId="{748CB505-CB07-4585-920F-7ECD22B67708}" type="parTrans" cxnId="{B07901C0-031B-48E3-8A62-6548A55F92F7}">
      <dgm:prSet/>
      <dgm:spPr/>
      <dgm:t>
        <a:bodyPr/>
        <a:lstStyle/>
        <a:p>
          <a:endParaRPr lang="en-US"/>
        </a:p>
      </dgm:t>
    </dgm:pt>
    <dgm:pt modelId="{CD4D5C9F-3233-436C-B59A-68BCAB3061C0}" type="sibTrans" cxnId="{B07901C0-031B-48E3-8A62-6548A55F92F7}">
      <dgm:prSet/>
      <dgm:spPr/>
      <dgm:t>
        <a:bodyPr/>
        <a:lstStyle/>
        <a:p>
          <a:endParaRPr lang="en-US"/>
        </a:p>
      </dgm:t>
    </dgm:pt>
    <dgm:pt modelId="{EC585F51-49D5-471B-9CAF-37EEE619BA4D}" type="pres">
      <dgm:prSet presAssocID="{D6799CD2-97EC-4E43-9D74-1FBA79E35DBA}" presName="root" presStyleCnt="0">
        <dgm:presLayoutVars>
          <dgm:dir/>
          <dgm:resizeHandles val="exact"/>
        </dgm:presLayoutVars>
      </dgm:prSet>
      <dgm:spPr/>
    </dgm:pt>
    <dgm:pt modelId="{F92FA7C8-52BE-4CD4-ACE3-3E45D2397E02}" type="pres">
      <dgm:prSet presAssocID="{7194DA2C-BA76-4425-ABED-D1D19C7CD205}" presName="compNode" presStyleCnt="0"/>
      <dgm:spPr/>
    </dgm:pt>
    <dgm:pt modelId="{3079A092-F655-4CA6-B017-701170E22CC6}" type="pres">
      <dgm:prSet presAssocID="{7194DA2C-BA76-4425-ABED-D1D19C7CD205}" presName="bgRect" presStyleLbl="bgShp" presStyleIdx="0" presStyleCnt="3"/>
      <dgm:spPr/>
    </dgm:pt>
    <dgm:pt modelId="{370E7EC8-5333-48E3-9FBB-A8C69A7A61F0}" type="pres">
      <dgm:prSet presAssocID="{7194DA2C-BA76-4425-ABED-D1D19C7CD2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bros"/>
        </a:ext>
      </dgm:extLst>
    </dgm:pt>
    <dgm:pt modelId="{7A050C66-0802-46FC-B00C-9DBD07C73F03}" type="pres">
      <dgm:prSet presAssocID="{7194DA2C-BA76-4425-ABED-D1D19C7CD205}" presName="spaceRect" presStyleCnt="0"/>
      <dgm:spPr/>
    </dgm:pt>
    <dgm:pt modelId="{8B2A5E2F-EFF4-432D-AE64-1B5E2337AF2A}" type="pres">
      <dgm:prSet presAssocID="{7194DA2C-BA76-4425-ABED-D1D19C7CD205}" presName="parTx" presStyleLbl="revTx" presStyleIdx="0" presStyleCnt="3">
        <dgm:presLayoutVars>
          <dgm:chMax val="0"/>
          <dgm:chPref val="0"/>
        </dgm:presLayoutVars>
      </dgm:prSet>
      <dgm:spPr/>
    </dgm:pt>
    <dgm:pt modelId="{CDC2A2E7-CBFA-43D3-8144-AF1D72E5E9F5}" type="pres">
      <dgm:prSet presAssocID="{547F5D8F-995C-484D-B88C-43E86273C2ED}" presName="sibTrans" presStyleCnt="0"/>
      <dgm:spPr/>
    </dgm:pt>
    <dgm:pt modelId="{656E52AC-83CC-4D79-AF15-249E8FBE3C20}" type="pres">
      <dgm:prSet presAssocID="{1B58CBEA-2549-4ABE-A6CD-61E5B831439D}" presName="compNode" presStyleCnt="0"/>
      <dgm:spPr/>
    </dgm:pt>
    <dgm:pt modelId="{B8B7B182-1BA7-40ED-BE2D-DC5282715970}" type="pres">
      <dgm:prSet presAssocID="{1B58CBEA-2549-4ABE-A6CD-61E5B831439D}" presName="bgRect" presStyleLbl="bgShp" presStyleIdx="1" presStyleCnt="3"/>
      <dgm:spPr/>
    </dgm:pt>
    <dgm:pt modelId="{FFA7EAA1-1CCE-4DE6-8D09-EF8F2B1F8652}" type="pres">
      <dgm:prSet presAssocID="{1B58CBEA-2549-4ABE-A6CD-61E5B831439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ja"/>
        </a:ext>
      </dgm:extLst>
    </dgm:pt>
    <dgm:pt modelId="{6DE79CC8-CDDC-45D9-9C78-A143E58A1857}" type="pres">
      <dgm:prSet presAssocID="{1B58CBEA-2549-4ABE-A6CD-61E5B831439D}" presName="spaceRect" presStyleCnt="0"/>
      <dgm:spPr/>
    </dgm:pt>
    <dgm:pt modelId="{5F276311-D577-4EE1-BDA5-2CFFEABF3F4F}" type="pres">
      <dgm:prSet presAssocID="{1B58CBEA-2549-4ABE-A6CD-61E5B831439D}" presName="parTx" presStyleLbl="revTx" presStyleIdx="1" presStyleCnt="3">
        <dgm:presLayoutVars>
          <dgm:chMax val="0"/>
          <dgm:chPref val="0"/>
        </dgm:presLayoutVars>
      </dgm:prSet>
      <dgm:spPr/>
    </dgm:pt>
    <dgm:pt modelId="{EFE1798D-19E6-4D22-899A-88A6180575BD}" type="pres">
      <dgm:prSet presAssocID="{F3BE96D8-2B8F-4296-B0B6-B6A641C99262}" presName="sibTrans" presStyleCnt="0"/>
      <dgm:spPr/>
    </dgm:pt>
    <dgm:pt modelId="{C13B3A29-7C91-4631-91A4-C2CBF0A68BE4}" type="pres">
      <dgm:prSet presAssocID="{1A483B15-E886-4FA6-97E1-DB70E16D395F}" presName="compNode" presStyleCnt="0"/>
      <dgm:spPr/>
    </dgm:pt>
    <dgm:pt modelId="{67F23DAA-577E-4362-B58B-A74648C6751A}" type="pres">
      <dgm:prSet presAssocID="{1A483B15-E886-4FA6-97E1-DB70E16D395F}" presName="bgRect" presStyleLbl="bgShp" presStyleIdx="2" presStyleCnt="3"/>
      <dgm:spPr/>
    </dgm:pt>
    <dgm:pt modelId="{FD769463-3133-4769-9172-E5E6313DC1A7}" type="pres">
      <dgm:prSet presAssocID="{1A483B15-E886-4FA6-97E1-DB70E16D395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 de verificación"/>
        </a:ext>
      </dgm:extLst>
    </dgm:pt>
    <dgm:pt modelId="{C2D9C0DD-41B5-4377-9713-83DB19D6E756}" type="pres">
      <dgm:prSet presAssocID="{1A483B15-E886-4FA6-97E1-DB70E16D395F}" presName="spaceRect" presStyleCnt="0"/>
      <dgm:spPr/>
    </dgm:pt>
    <dgm:pt modelId="{57CBDF10-B801-4539-8156-1884F71AD187}" type="pres">
      <dgm:prSet presAssocID="{1A483B15-E886-4FA6-97E1-DB70E16D395F}" presName="parTx" presStyleLbl="revTx" presStyleIdx="2" presStyleCnt="3">
        <dgm:presLayoutVars>
          <dgm:chMax val="0"/>
          <dgm:chPref val="0"/>
        </dgm:presLayoutVars>
      </dgm:prSet>
      <dgm:spPr/>
    </dgm:pt>
  </dgm:ptLst>
  <dgm:cxnLst>
    <dgm:cxn modelId="{04685510-2C98-4545-A26E-323F22705CA3}" type="presOf" srcId="{D6799CD2-97EC-4E43-9D74-1FBA79E35DBA}" destId="{EC585F51-49D5-471B-9CAF-37EEE619BA4D}" srcOrd="0" destOrd="0" presId="urn:microsoft.com/office/officeart/2018/2/layout/IconVerticalSolidList"/>
    <dgm:cxn modelId="{8E6B9030-ECE7-4061-B390-6D457EB573E4}" srcId="{D6799CD2-97EC-4E43-9D74-1FBA79E35DBA}" destId="{1B58CBEA-2549-4ABE-A6CD-61E5B831439D}" srcOrd="1" destOrd="0" parTransId="{B054CA3E-174A-4984-A5BA-217FB5A377D8}" sibTransId="{F3BE96D8-2B8F-4296-B0B6-B6A641C99262}"/>
    <dgm:cxn modelId="{2195158F-18AC-5F49-8979-FAD40FADA727}" type="presOf" srcId="{1B58CBEA-2549-4ABE-A6CD-61E5B831439D}" destId="{5F276311-D577-4EE1-BDA5-2CFFEABF3F4F}" srcOrd="0" destOrd="0" presId="urn:microsoft.com/office/officeart/2018/2/layout/IconVerticalSolidList"/>
    <dgm:cxn modelId="{2B4D65A4-FFF7-4592-B1E1-09C3F8CB88AA}" srcId="{D6799CD2-97EC-4E43-9D74-1FBA79E35DBA}" destId="{7194DA2C-BA76-4425-ABED-D1D19C7CD205}" srcOrd="0" destOrd="0" parTransId="{A864B85E-D659-4701-BBF2-0EA7823A43D4}" sibTransId="{547F5D8F-995C-484D-B88C-43E86273C2ED}"/>
    <dgm:cxn modelId="{B07901C0-031B-48E3-8A62-6548A55F92F7}" srcId="{D6799CD2-97EC-4E43-9D74-1FBA79E35DBA}" destId="{1A483B15-E886-4FA6-97E1-DB70E16D395F}" srcOrd="2" destOrd="0" parTransId="{748CB505-CB07-4585-920F-7ECD22B67708}" sibTransId="{CD4D5C9F-3233-436C-B59A-68BCAB3061C0}"/>
    <dgm:cxn modelId="{17598CCC-0056-3A46-8CCD-ED903F086D24}" type="presOf" srcId="{7194DA2C-BA76-4425-ABED-D1D19C7CD205}" destId="{8B2A5E2F-EFF4-432D-AE64-1B5E2337AF2A}" srcOrd="0" destOrd="0" presId="urn:microsoft.com/office/officeart/2018/2/layout/IconVerticalSolidList"/>
    <dgm:cxn modelId="{11EB86DF-5D41-BC4C-8678-D937B1F6BD94}" type="presOf" srcId="{1A483B15-E886-4FA6-97E1-DB70E16D395F}" destId="{57CBDF10-B801-4539-8156-1884F71AD187}" srcOrd="0" destOrd="0" presId="urn:microsoft.com/office/officeart/2018/2/layout/IconVerticalSolidList"/>
    <dgm:cxn modelId="{FDB844CB-43C4-FE4B-85B1-4FDF6AF41B83}" type="presParOf" srcId="{EC585F51-49D5-471B-9CAF-37EEE619BA4D}" destId="{F92FA7C8-52BE-4CD4-ACE3-3E45D2397E02}" srcOrd="0" destOrd="0" presId="urn:microsoft.com/office/officeart/2018/2/layout/IconVerticalSolidList"/>
    <dgm:cxn modelId="{E65CDD60-F376-3646-954B-C5B55C4B366B}" type="presParOf" srcId="{F92FA7C8-52BE-4CD4-ACE3-3E45D2397E02}" destId="{3079A092-F655-4CA6-B017-701170E22CC6}" srcOrd="0" destOrd="0" presId="urn:microsoft.com/office/officeart/2018/2/layout/IconVerticalSolidList"/>
    <dgm:cxn modelId="{CC58CA8D-90AD-7D41-9EB6-F89686B05A7F}" type="presParOf" srcId="{F92FA7C8-52BE-4CD4-ACE3-3E45D2397E02}" destId="{370E7EC8-5333-48E3-9FBB-A8C69A7A61F0}" srcOrd="1" destOrd="0" presId="urn:microsoft.com/office/officeart/2018/2/layout/IconVerticalSolidList"/>
    <dgm:cxn modelId="{CD84DC1B-34DA-B641-A5EF-48E465BE199C}" type="presParOf" srcId="{F92FA7C8-52BE-4CD4-ACE3-3E45D2397E02}" destId="{7A050C66-0802-46FC-B00C-9DBD07C73F03}" srcOrd="2" destOrd="0" presId="urn:microsoft.com/office/officeart/2018/2/layout/IconVerticalSolidList"/>
    <dgm:cxn modelId="{D58006C1-9B4A-0B4C-907B-2C58661EF9BC}" type="presParOf" srcId="{F92FA7C8-52BE-4CD4-ACE3-3E45D2397E02}" destId="{8B2A5E2F-EFF4-432D-AE64-1B5E2337AF2A}" srcOrd="3" destOrd="0" presId="urn:microsoft.com/office/officeart/2018/2/layout/IconVerticalSolidList"/>
    <dgm:cxn modelId="{BCF2B804-667A-994D-950E-CB0482EB8F5C}" type="presParOf" srcId="{EC585F51-49D5-471B-9CAF-37EEE619BA4D}" destId="{CDC2A2E7-CBFA-43D3-8144-AF1D72E5E9F5}" srcOrd="1" destOrd="0" presId="urn:microsoft.com/office/officeart/2018/2/layout/IconVerticalSolidList"/>
    <dgm:cxn modelId="{67416CBA-2266-8F4C-B369-A63749EFEE08}" type="presParOf" srcId="{EC585F51-49D5-471B-9CAF-37EEE619BA4D}" destId="{656E52AC-83CC-4D79-AF15-249E8FBE3C20}" srcOrd="2" destOrd="0" presId="urn:microsoft.com/office/officeart/2018/2/layout/IconVerticalSolidList"/>
    <dgm:cxn modelId="{258727F8-C812-C347-93A7-6107F3132178}" type="presParOf" srcId="{656E52AC-83CC-4D79-AF15-249E8FBE3C20}" destId="{B8B7B182-1BA7-40ED-BE2D-DC5282715970}" srcOrd="0" destOrd="0" presId="urn:microsoft.com/office/officeart/2018/2/layout/IconVerticalSolidList"/>
    <dgm:cxn modelId="{C5BEC372-F821-CC40-A8C9-063660EADFC4}" type="presParOf" srcId="{656E52AC-83CC-4D79-AF15-249E8FBE3C20}" destId="{FFA7EAA1-1CCE-4DE6-8D09-EF8F2B1F8652}" srcOrd="1" destOrd="0" presId="urn:microsoft.com/office/officeart/2018/2/layout/IconVerticalSolidList"/>
    <dgm:cxn modelId="{278031BA-3E23-1643-A1CD-82A12F012F3A}" type="presParOf" srcId="{656E52AC-83CC-4D79-AF15-249E8FBE3C20}" destId="{6DE79CC8-CDDC-45D9-9C78-A143E58A1857}" srcOrd="2" destOrd="0" presId="urn:microsoft.com/office/officeart/2018/2/layout/IconVerticalSolidList"/>
    <dgm:cxn modelId="{61874FAF-AF7C-BE47-A7D5-555D5F9E40E2}" type="presParOf" srcId="{656E52AC-83CC-4D79-AF15-249E8FBE3C20}" destId="{5F276311-D577-4EE1-BDA5-2CFFEABF3F4F}" srcOrd="3" destOrd="0" presId="urn:microsoft.com/office/officeart/2018/2/layout/IconVerticalSolidList"/>
    <dgm:cxn modelId="{AD667F5F-FA0A-C04A-A9A8-12AE03886FDB}" type="presParOf" srcId="{EC585F51-49D5-471B-9CAF-37EEE619BA4D}" destId="{EFE1798D-19E6-4D22-899A-88A6180575BD}" srcOrd="3" destOrd="0" presId="urn:microsoft.com/office/officeart/2018/2/layout/IconVerticalSolidList"/>
    <dgm:cxn modelId="{45C29711-6BA4-6C49-8F5B-AFC47464F79E}" type="presParOf" srcId="{EC585F51-49D5-471B-9CAF-37EEE619BA4D}" destId="{C13B3A29-7C91-4631-91A4-C2CBF0A68BE4}" srcOrd="4" destOrd="0" presId="urn:microsoft.com/office/officeart/2018/2/layout/IconVerticalSolidList"/>
    <dgm:cxn modelId="{64B6B7A9-1241-134E-A306-385ABE35877E}" type="presParOf" srcId="{C13B3A29-7C91-4631-91A4-C2CBF0A68BE4}" destId="{67F23DAA-577E-4362-B58B-A74648C6751A}" srcOrd="0" destOrd="0" presId="urn:microsoft.com/office/officeart/2018/2/layout/IconVerticalSolidList"/>
    <dgm:cxn modelId="{B6A8A6CE-7280-3A46-B3F8-931A24636330}" type="presParOf" srcId="{C13B3A29-7C91-4631-91A4-C2CBF0A68BE4}" destId="{FD769463-3133-4769-9172-E5E6313DC1A7}" srcOrd="1" destOrd="0" presId="urn:microsoft.com/office/officeart/2018/2/layout/IconVerticalSolidList"/>
    <dgm:cxn modelId="{91816839-8043-5040-923E-8734883BEC8A}" type="presParOf" srcId="{C13B3A29-7C91-4631-91A4-C2CBF0A68BE4}" destId="{C2D9C0DD-41B5-4377-9713-83DB19D6E756}" srcOrd="2" destOrd="0" presId="urn:microsoft.com/office/officeart/2018/2/layout/IconVerticalSolidList"/>
    <dgm:cxn modelId="{B79650EC-1C94-0847-9B9C-A4419B296712}" type="presParOf" srcId="{C13B3A29-7C91-4631-91A4-C2CBF0A68BE4}" destId="{57CBDF10-B801-4539-8156-1884F71AD18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BC10D5-ACBA-FE49-A138-3C40D90D9185}">
      <dsp:nvSpPr>
        <dsp:cNvPr id="0" name=""/>
        <dsp:cNvSpPr/>
      </dsp:nvSpPr>
      <dsp:spPr>
        <a:xfrm>
          <a:off x="821" y="182441"/>
          <a:ext cx="3327201" cy="3992641"/>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577850">
            <a:lnSpc>
              <a:spcPct val="90000"/>
            </a:lnSpc>
            <a:spcBef>
              <a:spcPct val="0"/>
            </a:spcBef>
            <a:spcAft>
              <a:spcPct val="35000"/>
            </a:spcAft>
            <a:buNone/>
          </a:pPr>
          <a:r>
            <a:rPr lang="es-ES_tradnl" sz="1300" kern="1200"/>
            <a:t>Antes de continuar, haremos unos cambios a las opciones globales (síganme en las computadoras del salón). Si están en sus casas leyendo la presentación o seteándolo en sus computadoras personales, acceden a estas opciones en el menú del programa yendo a Herramientas (</a:t>
          </a:r>
          <a:r>
            <a:rPr lang="es-ES_tradnl" sz="1300" i="1" kern="1200"/>
            <a:t>Tools</a:t>
          </a:r>
          <a:r>
            <a:rPr lang="es-ES_tradnl" sz="1300" kern="1200"/>
            <a:t>) y bajando a la última opción encontrarán </a:t>
          </a:r>
          <a:r>
            <a:rPr lang="es-ES_tradnl" sz="1300" i="1" kern="1200"/>
            <a:t>Global Options</a:t>
          </a:r>
          <a:r>
            <a:rPr lang="es-ES_tradnl" sz="1300" kern="1200"/>
            <a:t> u Opciones Globales.</a:t>
          </a:r>
          <a:endParaRPr lang="en-US" sz="1300" kern="1200"/>
        </a:p>
      </dsp:txBody>
      <dsp:txXfrm>
        <a:off x="821" y="1779497"/>
        <a:ext cx="3327201" cy="2395585"/>
      </dsp:txXfrm>
    </dsp:sp>
    <dsp:sp modelId="{11C65CE2-D8A6-1B4F-A692-1C5FE2DFBD70}">
      <dsp:nvSpPr>
        <dsp:cNvPr id="0" name=""/>
        <dsp:cNvSpPr/>
      </dsp:nvSpPr>
      <dsp:spPr>
        <a:xfrm>
          <a:off x="821" y="18244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182441"/>
        <a:ext cx="3327201" cy="1597056"/>
      </dsp:txXfrm>
    </dsp:sp>
    <dsp:sp modelId="{226799A0-4866-AF40-B4CC-7195CE0D1B4F}">
      <dsp:nvSpPr>
        <dsp:cNvPr id="0" name=""/>
        <dsp:cNvSpPr/>
      </dsp:nvSpPr>
      <dsp:spPr>
        <a:xfrm>
          <a:off x="3594199" y="182441"/>
          <a:ext cx="3327201" cy="3992641"/>
        </a:xfrm>
        <a:prstGeom prst="rect">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577850">
            <a:lnSpc>
              <a:spcPct val="90000"/>
            </a:lnSpc>
            <a:spcBef>
              <a:spcPct val="0"/>
            </a:spcBef>
            <a:spcAft>
              <a:spcPct val="35000"/>
            </a:spcAft>
            <a:buNone/>
          </a:pPr>
          <a:r>
            <a:rPr lang="es-ES_tradnl" sz="1300" kern="1200"/>
            <a:t>En el menú, vayan a la opción General, cambien las siguientes opciones: en espacio de trabajo (</a:t>
          </a:r>
          <a:r>
            <a:rPr lang="es-ES_tradnl" sz="1300" i="1" kern="1200"/>
            <a:t>Workspace</a:t>
          </a:r>
          <a:r>
            <a:rPr lang="es-ES_tradnl" sz="1300" kern="1200"/>
            <a:t>) desactiven Restaurar .RData en el espacio de trabajo al iniciar y pongan la opción de Nunca en Guardar espacio de trabajo en .RData al salir.</a:t>
          </a:r>
          <a:endParaRPr lang="en-US" sz="1300" kern="1200"/>
        </a:p>
      </dsp:txBody>
      <dsp:txXfrm>
        <a:off x="3594199" y="1779497"/>
        <a:ext cx="3327201" cy="2395585"/>
      </dsp:txXfrm>
    </dsp:sp>
    <dsp:sp modelId="{F07D1225-4006-D54B-BFCB-40F806E085D5}">
      <dsp:nvSpPr>
        <dsp:cNvPr id="0" name=""/>
        <dsp:cNvSpPr/>
      </dsp:nvSpPr>
      <dsp:spPr>
        <a:xfrm>
          <a:off x="3594199" y="18244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182441"/>
        <a:ext cx="3327201" cy="1597056"/>
      </dsp:txXfrm>
    </dsp:sp>
    <dsp:sp modelId="{91E5FBDB-9D9D-D449-90E8-3E4CE4C21B7F}">
      <dsp:nvSpPr>
        <dsp:cNvPr id="0" name=""/>
        <dsp:cNvSpPr/>
      </dsp:nvSpPr>
      <dsp:spPr>
        <a:xfrm>
          <a:off x="7187576" y="182441"/>
          <a:ext cx="3327201" cy="3992641"/>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577850">
            <a:lnSpc>
              <a:spcPct val="90000"/>
            </a:lnSpc>
            <a:spcBef>
              <a:spcPct val="0"/>
            </a:spcBef>
            <a:spcAft>
              <a:spcPct val="35000"/>
            </a:spcAft>
            <a:buNone/>
          </a:pPr>
          <a:r>
            <a:rPr lang="es-ES_tradnl" sz="1300" kern="1200"/>
            <a:t>En el menú, vayan a la opción Código (</a:t>
          </a:r>
          <a:r>
            <a:rPr lang="es-ES_tradnl" sz="1300" i="1" kern="1200"/>
            <a:t>Code</a:t>
          </a:r>
          <a:r>
            <a:rPr lang="es-ES_tradnl" sz="1300" kern="1200"/>
            <a:t>). En las pestañas vayan a Guardado (</a:t>
          </a:r>
          <a:r>
            <a:rPr lang="es-ES_tradnl" sz="1300" i="1" kern="1200"/>
            <a:t>Saving</a:t>
          </a:r>
          <a:r>
            <a:rPr lang="es-ES_tradnl" sz="1300" kern="1200"/>
            <a:t>) y seleccionen codificación UTF-8. Seleccionen Aplicar cambios (</a:t>
          </a:r>
          <a:r>
            <a:rPr lang="es-ES_tradnl" sz="1300" i="1" kern="1200"/>
            <a:t>Apply</a:t>
          </a:r>
          <a:r>
            <a:rPr lang="es-ES_tradnl" sz="1300" kern="1200"/>
            <a:t>).</a:t>
          </a:r>
          <a:endParaRPr lang="en-US" sz="1300" kern="1200"/>
        </a:p>
      </dsp:txBody>
      <dsp:txXfrm>
        <a:off x="7187576" y="1779497"/>
        <a:ext cx="3327201" cy="2395585"/>
      </dsp:txXfrm>
    </dsp:sp>
    <dsp:sp modelId="{83FAF0A0-FBE2-0D4D-9650-95E2543A7DA9}">
      <dsp:nvSpPr>
        <dsp:cNvPr id="0" name=""/>
        <dsp:cNvSpPr/>
      </dsp:nvSpPr>
      <dsp:spPr>
        <a:xfrm>
          <a:off x="7187576" y="18244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182441"/>
        <a:ext cx="3327201" cy="15970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79A092-F655-4CA6-B017-701170E22CC6}">
      <dsp:nvSpPr>
        <dsp:cNvPr id="0" name=""/>
        <dsp:cNvSpPr/>
      </dsp:nvSpPr>
      <dsp:spPr>
        <a:xfrm>
          <a:off x="0" y="531"/>
          <a:ext cx="10515600" cy="1243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0E7EC8-5333-48E3-9FBB-A8C69A7A61F0}">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2A5E2F-EFF4-432D-AE64-1B5E2337AF2A}">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711200">
            <a:lnSpc>
              <a:spcPct val="100000"/>
            </a:lnSpc>
            <a:spcBef>
              <a:spcPct val="0"/>
            </a:spcBef>
            <a:spcAft>
              <a:spcPct val="35000"/>
            </a:spcAft>
            <a:buNone/>
          </a:pPr>
          <a:r>
            <a:rPr lang="es-ES_tradnl" sz="1600" kern="1200"/>
            <a:t>Los paquetes añaden funcionalidades al programa base.  Uno puede instalar paquetes a la librería del programa con la función install.packages().</a:t>
          </a:r>
          <a:endParaRPr lang="en-US" sz="1600" kern="1200"/>
        </a:p>
      </dsp:txBody>
      <dsp:txXfrm>
        <a:off x="1435988" y="531"/>
        <a:ext cx="9079611" cy="1243280"/>
      </dsp:txXfrm>
    </dsp:sp>
    <dsp:sp modelId="{B8B7B182-1BA7-40ED-BE2D-DC5282715970}">
      <dsp:nvSpPr>
        <dsp:cNvPr id="0" name=""/>
        <dsp:cNvSpPr/>
      </dsp:nvSpPr>
      <dsp:spPr>
        <a:xfrm>
          <a:off x="0" y="1554631"/>
          <a:ext cx="10515600" cy="1243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7EAA1-1CCE-4DE6-8D09-EF8F2B1F8652}">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276311-D577-4EE1-BDA5-2CFFEABF3F4F}">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711200">
            <a:lnSpc>
              <a:spcPct val="100000"/>
            </a:lnSpc>
            <a:spcBef>
              <a:spcPct val="0"/>
            </a:spcBef>
            <a:spcAft>
              <a:spcPct val="35000"/>
            </a:spcAft>
            <a:buNone/>
          </a:pPr>
          <a:r>
            <a:rPr lang="es-ES_tradnl" sz="1600" kern="1200"/>
            <a:t>Pueden por ejemplo instalar el paquete que usaremos del libro de Irizarry (dslabs) al escribir install.packages("dslabs"). También pueden instalar varios paquetes a la vez concatenando los paquetes deseados con la función adicional c(), es decir install.packages(c("dslabs","tidyverse")). </a:t>
          </a:r>
          <a:endParaRPr lang="en-US" sz="1600" kern="1200"/>
        </a:p>
      </dsp:txBody>
      <dsp:txXfrm>
        <a:off x="1435988" y="1554631"/>
        <a:ext cx="9079611" cy="1243280"/>
      </dsp:txXfrm>
    </dsp:sp>
    <dsp:sp modelId="{67F23DAA-577E-4362-B58B-A74648C6751A}">
      <dsp:nvSpPr>
        <dsp:cNvPr id="0" name=""/>
        <dsp:cNvSpPr/>
      </dsp:nvSpPr>
      <dsp:spPr>
        <a:xfrm>
          <a:off x="0" y="3108732"/>
          <a:ext cx="10515600" cy="1243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769463-3133-4769-9172-E5E6313DC1A7}">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CBDF10-B801-4539-8156-1884F71AD187}">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711200">
            <a:lnSpc>
              <a:spcPct val="100000"/>
            </a:lnSpc>
            <a:spcBef>
              <a:spcPct val="0"/>
            </a:spcBef>
            <a:spcAft>
              <a:spcPct val="35000"/>
            </a:spcAft>
            <a:buNone/>
          </a:pPr>
          <a:r>
            <a:rPr lang="es-ES_tradnl" sz="1600" kern="1200"/>
            <a:t>Si necesitan una de estas funcionalidades o paquetes, los llamarán para activación usando la función library(), por ejemplo library(tidyverse).</a:t>
          </a:r>
          <a:endParaRPr lang="en-US" sz="1600" kern="1200"/>
        </a:p>
      </dsp:txBody>
      <dsp:txXfrm>
        <a:off x="1435988" y="3108732"/>
        <a:ext cx="9079611" cy="124328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E2E01-B673-C34F-A05C-1651329CD7AF}" type="datetimeFigureOut">
              <a:rPr lang="es-ES_tradnl" smtClean="0"/>
              <a:t>12/11/25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40ECC-EF41-2B4F-AC3E-6ED83140BD05}" type="slidenum">
              <a:rPr lang="es-ES_tradnl" smtClean="0"/>
              <a:t>‹Nº›</a:t>
            </a:fld>
            <a:endParaRPr lang="es-ES_tradnl"/>
          </a:p>
        </p:txBody>
      </p:sp>
    </p:spTree>
    <p:extLst>
      <p:ext uri="{BB962C8B-B14F-4D97-AF65-F5344CB8AC3E}">
        <p14:creationId xmlns:p14="http://schemas.microsoft.com/office/powerpoint/2010/main" val="1609121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34640ECC-EF41-2B4F-AC3E-6ED83140BD05}" type="slidenum">
              <a:rPr lang="es-ES_tradnl" smtClean="0"/>
              <a:t>2</a:t>
            </a:fld>
            <a:endParaRPr lang="es-ES_tradnl"/>
          </a:p>
        </p:txBody>
      </p:sp>
    </p:spTree>
    <p:extLst>
      <p:ext uri="{BB962C8B-B14F-4D97-AF65-F5344CB8AC3E}">
        <p14:creationId xmlns:p14="http://schemas.microsoft.com/office/powerpoint/2010/main" val="3852127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A2FDB2-DB5A-4E64-A577-B1134A746879}"/>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ES_tradnl"/>
          </a:p>
        </p:txBody>
      </p:sp>
      <p:sp>
        <p:nvSpPr>
          <p:cNvPr id="3" name="Subtítulo 2">
            <a:extLst>
              <a:ext uri="{FF2B5EF4-FFF2-40B4-BE49-F238E27FC236}">
                <a16:creationId xmlns:a16="http://schemas.microsoft.com/office/drawing/2014/main" id="{7198E8E4-EDCA-A03B-29A0-53FF112703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ES_tradnl"/>
          </a:p>
        </p:txBody>
      </p:sp>
      <p:sp>
        <p:nvSpPr>
          <p:cNvPr id="4" name="Marcador de fecha 3">
            <a:extLst>
              <a:ext uri="{FF2B5EF4-FFF2-40B4-BE49-F238E27FC236}">
                <a16:creationId xmlns:a16="http://schemas.microsoft.com/office/drawing/2014/main" id="{0FCCF987-2A08-582F-FD7E-F9B1358F7CF5}"/>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093DA23B-A513-1E6F-BCC1-0DCE58FBA3E8}"/>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8C8948A1-ED6B-B399-F4BA-38665AAB30E0}"/>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347192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364E22-B92D-AB02-7EAD-04D853B0C4B7}"/>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387F906C-B582-0AFF-0C71-284FD22AA34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532E43BD-3265-D7AE-B742-003AB09FEDFF}"/>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605C6B59-CE6D-4E9E-25A4-10C474661E9C}"/>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79D7C9C7-3E51-172C-63FF-94DC7D880C8F}"/>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4028091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57944A-F8F0-DCB5-01DB-CA519A04D513}"/>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A3C213DF-931C-73E8-1EDA-09F08BDCFD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071368D-A2A6-AA32-0236-6F32C11CD0D1}"/>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13EACC32-7C36-E605-5E98-ABBC3C597A9C}"/>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87833A7A-8AAC-3BC3-706B-F95FF3D952D3}"/>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228392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989EC3-6ECE-7B25-1C43-2D9DD0AE1869}"/>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35697667-3215-67C9-FE73-5B53B3F4F34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contenido 3">
            <a:extLst>
              <a:ext uri="{FF2B5EF4-FFF2-40B4-BE49-F238E27FC236}">
                <a16:creationId xmlns:a16="http://schemas.microsoft.com/office/drawing/2014/main" id="{9F3A12B3-2291-8282-F620-F6A32E5F1878}"/>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fecha 4">
            <a:extLst>
              <a:ext uri="{FF2B5EF4-FFF2-40B4-BE49-F238E27FC236}">
                <a16:creationId xmlns:a16="http://schemas.microsoft.com/office/drawing/2014/main" id="{26A67E11-6E72-ADAD-256D-C95635B7468E}"/>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6" name="Marcador de pie de página 5">
            <a:extLst>
              <a:ext uri="{FF2B5EF4-FFF2-40B4-BE49-F238E27FC236}">
                <a16:creationId xmlns:a16="http://schemas.microsoft.com/office/drawing/2014/main" id="{A92761E4-817C-C8E1-4CE3-70557D9D911E}"/>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D959C9F4-4ADE-EB19-631F-903D02505E57}"/>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1900795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4D8B49-775D-11D6-EDE3-591B1F0A331D}"/>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3F250F33-BF02-87AF-99A4-041123F156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5B2990F-33EE-E7C8-8C42-060F52F87834}"/>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texto 4">
            <a:extLst>
              <a:ext uri="{FF2B5EF4-FFF2-40B4-BE49-F238E27FC236}">
                <a16:creationId xmlns:a16="http://schemas.microsoft.com/office/drawing/2014/main" id="{99E612DC-4632-5F56-4A9C-F296AA20B4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732E2C0-E01E-8B52-FFAC-7096C092F8C9}"/>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7" name="Marcador de fecha 6">
            <a:extLst>
              <a:ext uri="{FF2B5EF4-FFF2-40B4-BE49-F238E27FC236}">
                <a16:creationId xmlns:a16="http://schemas.microsoft.com/office/drawing/2014/main" id="{9F1C1C9F-878C-277C-A6BC-D8B3B4E4D23E}"/>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8" name="Marcador de pie de página 7">
            <a:extLst>
              <a:ext uri="{FF2B5EF4-FFF2-40B4-BE49-F238E27FC236}">
                <a16:creationId xmlns:a16="http://schemas.microsoft.com/office/drawing/2014/main" id="{34085B64-70F9-AA83-69C2-5E6A85B0E684}"/>
              </a:ext>
            </a:extLst>
          </p:cNvPr>
          <p:cNvSpPr>
            <a:spLocks noGrp="1"/>
          </p:cNvSpPr>
          <p:nvPr>
            <p:ph type="ftr" sz="quarter" idx="11"/>
          </p:nvPr>
        </p:nvSpPr>
        <p:spPr/>
        <p:txBody>
          <a:bodyPr/>
          <a:lstStyle/>
          <a:p>
            <a:endParaRPr lang="es-ES_tradnl"/>
          </a:p>
        </p:txBody>
      </p:sp>
      <p:sp>
        <p:nvSpPr>
          <p:cNvPr id="9" name="Marcador de número de diapositiva 8">
            <a:extLst>
              <a:ext uri="{FF2B5EF4-FFF2-40B4-BE49-F238E27FC236}">
                <a16:creationId xmlns:a16="http://schemas.microsoft.com/office/drawing/2014/main" id="{36A30CA8-D95F-CF17-171C-21222522E4D8}"/>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1456713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D3FC1-E226-29C0-7F84-742473A4BA80}"/>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fecha 2">
            <a:extLst>
              <a:ext uri="{FF2B5EF4-FFF2-40B4-BE49-F238E27FC236}">
                <a16:creationId xmlns:a16="http://schemas.microsoft.com/office/drawing/2014/main" id="{4CD15A0A-D663-1548-90E0-C5F4B892CDDC}"/>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4" name="Marcador de pie de página 3">
            <a:extLst>
              <a:ext uri="{FF2B5EF4-FFF2-40B4-BE49-F238E27FC236}">
                <a16:creationId xmlns:a16="http://schemas.microsoft.com/office/drawing/2014/main" id="{0822FD9F-AB0D-AAB9-23B9-298DAC802B0C}"/>
              </a:ext>
            </a:extLst>
          </p:cNvPr>
          <p:cNvSpPr>
            <a:spLocks noGrp="1"/>
          </p:cNvSpPr>
          <p:nvPr>
            <p:ph type="ftr" sz="quarter" idx="11"/>
          </p:nvPr>
        </p:nvSpPr>
        <p:spPr/>
        <p:txBody>
          <a:bodyPr/>
          <a:lstStyle/>
          <a:p>
            <a:endParaRPr lang="es-ES_tradnl"/>
          </a:p>
        </p:txBody>
      </p:sp>
      <p:sp>
        <p:nvSpPr>
          <p:cNvPr id="5" name="Marcador de número de diapositiva 4">
            <a:extLst>
              <a:ext uri="{FF2B5EF4-FFF2-40B4-BE49-F238E27FC236}">
                <a16:creationId xmlns:a16="http://schemas.microsoft.com/office/drawing/2014/main" id="{E4CDC4F5-DEF0-9E6D-5955-4BDA5565325B}"/>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405422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A074219-B9CD-5F64-0624-8140F3891369}"/>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3" name="Marcador de pie de página 2">
            <a:extLst>
              <a:ext uri="{FF2B5EF4-FFF2-40B4-BE49-F238E27FC236}">
                <a16:creationId xmlns:a16="http://schemas.microsoft.com/office/drawing/2014/main" id="{797216E2-552F-1488-6922-B6B946660064}"/>
              </a:ext>
            </a:extLst>
          </p:cNvPr>
          <p:cNvSpPr>
            <a:spLocks noGrp="1"/>
          </p:cNvSpPr>
          <p:nvPr>
            <p:ph type="ftr" sz="quarter" idx="11"/>
          </p:nvPr>
        </p:nvSpPr>
        <p:spPr/>
        <p:txBody>
          <a:bodyPr/>
          <a:lstStyle/>
          <a:p>
            <a:endParaRPr lang="es-ES_tradnl"/>
          </a:p>
        </p:txBody>
      </p:sp>
      <p:sp>
        <p:nvSpPr>
          <p:cNvPr id="4" name="Marcador de número de diapositiva 3">
            <a:extLst>
              <a:ext uri="{FF2B5EF4-FFF2-40B4-BE49-F238E27FC236}">
                <a16:creationId xmlns:a16="http://schemas.microsoft.com/office/drawing/2014/main" id="{0174085C-C7EF-A4E1-5D9C-4D9216672570}"/>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962135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2E2111-B3D3-C9A0-3006-9AB5F9D1B8C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E671FB46-ACE6-93BD-3DD3-E1025A4E57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texto 3">
            <a:extLst>
              <a:ext uri="{FF2B5EF4-FFF2-40B4-BE49-F238E27FC236}">
                <a16:creationId xmlns:a16="http://schemas.microsoft.com/office/drawing/2014/main" id="{CA57215D-86D0-1A0D-6DE8-9833FA83A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29EDB48-659B-A53C-6F13-C75314372215}"/>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6" name="Marcador de pie de página 5">
            <a:extLst>
              <a:ext uri="{FF2B5EF4-FFF2-40B4-BE49-F238E27FC236}">
                <a16:creationId xmlns:a16="http://schemas.microsoft.com/office/drawing/2014/main" id="{ABE377FB-B269-4A59-480A-AB631FFD375E}"/>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FA439691-695D-2BEC-442E-C8EF177A2F4F}"/>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65434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D8CDF-93DE-1D32-897C-5EBB5F638A0A}"/>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9F61A138-7C30-84B4-EA3E-3BE95D143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a:extLst>
              <a:ext uri="{FF2B5EF4-FFF2-40B4-BE49-F238E27FC236}">
                <a16:creationId xmlns:a16="http://schemas.microsoft.com/office/drawing/2014/main" id="{7FA43142-96C9-C293-BE96-9E5C3ED73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1E10BB0-FF1C-0718-04D6-13DE828155C2}"/>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6" name="Marcador de pie de página 5">
            <a:extLst>
              <a:ext uri="{FF2B5EF4-FFF2-40B4-BE49-F238E27FC236}">
                <a16:creationId xmlns:a16="http://schemas.microsoft.com/office/drawing/2014/main" id="{16F389DA-43E5-7CED-16AD-2C15E58562D6}"/>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A8EC91E7-BD97-CE51-4348-7AA1061797D5}"/>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15140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2AF52B-6600-9618-C72D-5AD95E02303E}"/>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92A68854-5F02-6134-D03B-8144C7BE74A2}"/>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BFBDD9BB-03B4-C9AD-9776-90B27244723E}"/>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F1F771D9-0AF7-6367-2B2E-B98708E0F31A}"/>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5D372D6E-86C1-375B-249C-1907034E036F}"/>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3321888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372E2B3-6D4D-6B42-D045-EF3061B36F7E}"/>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29ECA2BF-7370-89FA-E249-7484B6212D9B}"/>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9691F5F5-6E97-0F28-655F-35DA8FF6CBF6}"/>
              </a:ext>
            </a:extLst>
          </p:cNvPr>
          <p:cNvSpPr>
            <a:spLocks noGrp="1"/>
          </p:cNvSpPr>
          <p:nvPr>
            <p:ph type="dt" sz="half" idx="10"/>
          </p:nvPr>
        </p:nvSpPr>
        <p:spPr/>
        <p:txBody>
          <a:body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3E481CC7-1CB3-44E0-F907-846BB37873AF}"/>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F52239F9-D99F-08BD-92AF-79E898A77E07}"/>
              </a:ext>
            </a:extLst>
          </p:cNvPr>
          <p:cNvSpPr>
            <a:spLocks noGrp="1"/>
          </p:cNvSpPr>
          <p:nvPr>
            <p:ph type="sldNum" sz="quarter" idx="12"/>
          </p:nvPr>
        </p:nvSpPr>
        <p:spPr/>
        <p:txBody>
          <a:body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4004122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3E39612-567E-BF74-5E39-EA8AC1B728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58F61BBD-E9A1-E0AB-801E-4701882E7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841568A7-7F08-8FEF-2CF1-1DF64DFD00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4F6BB3-983D-BB4D-929F-7F8672A48013}" type="datetimeFigureOut">
              <a:rPr lang="es-ES_tradnl" smtClean="0"/>
              <a:t>12/11/25</a:t>
            </a:fld>
            <a:endParaRPr lang="es-ES_tradnl"/>
          </a:p>
        </p:txBody>
      </p:sp>
      <p:sp>
        <p:nvSpPr>
          <p:cNvPr id="5" name="Marcador de pie de página 4">
            <a:extLst>
              <a:ext uri="{FF2B5EF4-FFF2-40B4-BE49-F238E27FC236}">
                <a16:creationId xmlns:a16="http://schemas.microsoft.com/office/drawing/2014/main" id="{5A5A1647-6C23-9092-65BD-FE5290046A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Marcador de número de diapositiva 5">
            <a:extLst>
              <a:ext uri="{FF2B5EF4-FFF2-40B4-BE49-F238E27FC236}">
                <a16:creationId xmlns:a16="http://schemas.microsoft.com/office/drawing/2014/main" id="{B0BCFF32-4C90-5349-B681-79D948B9A0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37E867-F040-7D46-AFD4-80D621F7761C}" type="slidenum">
              <a:rPr lang="es-ES_tradnl" smtClean="0"/>
              <a:t>‹Nº›</a:t>
            </a:fld>
            <a:endParaRPr lang="es-ES_tradnl"/>
          </a:p>
        </p:txBody>
      </p:sp>
    </p:spTree>
    <p:extLst>
      <p:ext uri="{BB962C8B-B14F-4D97-AF65-F5344CB8AC3E}">
        <p14:creationId xmlns:p14="http://schemas.microsoft.com/office/powerpoint/2010/main" val="3914623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Financial graphs on a dark display">
            <a:extLst>
              <a:ext uri="{FF2B5EF4-FFF2-40B4-BE49-F238E27FC236}">
                <a16:creationId xmlns:a16="http://schemas.microsoft.com/office/drawing/2014/main" id="{8B8EEB42-9F99-9586-5B8C-25117618828A}"/>
              </a:ext>
            </a:extLst>
          </p:cNvPr>
          <p:cNvPicPr>
            <a:picLocks noChangeAspect="1"/>
          </p:cNvPicPr>
          <p:nvPr/>
        </p:nvPicPr>
        <p:blipFill>
          <a:blip r:embed="rId2"/>
          <a:srcRect t="9614"/>
          <a:stretch>
            <a:fillRect/>
          </a:stretch>
        </p:blipFill>
        <p:spPr>
          <a:xfrm>
            <a:off x="20" y="-7619"/>
            <a:ext cx="12191979" cy="6887364"/>
          </a:xfrm>
          <a:prstGeom prst="rect">
            <a:avLst/>
          </a:prstGeom>
        </p:spPr>
      </p:pic>
      <p:sp>
        <p:nvSpPr>
          <p:cNvPr id="11" name="Rectangle 10">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3">
            <a:extLst>
              <a:ext uri="{FF2B5EF4-FFF2-40B4-BE49-F238E27FC236}">
                <a16:creationId xmlns:a16="http://schemas.microsoft.com/office/drawing/2014/main" id="{F3E39075-2CB6-BAF1-4AE8-15F30F39986A}"/>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a:solidFill>
                  <a:srgbClr val="FFFFFF"/>
                </a:solidFill>
              </a:rPr>
              <a:t>R y RStudio para cómputos</a:t>
            </a:r>
          </a:p>
        </p:txBody>
      </p:sp>
      <p:sp>
        <p:nvSpPr>
          <p:cNvPr id="5" name="Marcador de texto 4">
            <a:extLst>
              <a:ext uri="{FF2B5EF4-FFF2-40B4-BE49-F238E27FC236}">
                <a16:creationId xmlns:a16="http://schemas.microsoft.com/office/drawing/2014/main" id="{85A26F99-E5B0-ADD1-3E0E-9725D113B7D6}"/>
              </a:ext>
            </a:extLst>
          </p:cNvPr>
          <p:cNvSpPr>
            <a:spLocks noGrp="1"/>
          </p:cNvSpPr>
          <p:nvPr>
            <p:ph type="body" idx="1"/>
          </p:nvPr>
        </p:nvSpPr>
        <p:spPr>
          <a:xfrm>
            <a:off x="859028" y="5166367"/>
            <a:ext cx="4160233" cy="850998"/>
          </a:xfrm>
        </p:spPr>
        <p:txBody>
          <a:bodyPr vert="horz" lIns="91440" tIns="45720" rIns="91440" bIns="45720" rtlCol="0">
            <a:normAutofit/>
          </a:bodyPr>
          <a:lstStyle/>
          <a:p>
            <a:r>
              <a:rPr lang="en-US" sz="2000">
                <a:solidFill>
                  <a:srgbClr val="FFFFFF"/>
                </a:solidFill>
              </a:rPr>
              <a:t>Programación estadística</a:t>
            </a:r>
          </a:p>
        </p:txBody>
      </p:sp>
    </p:spTree>
    <p:extLst>
      <p:ext uri="{BB962C8B-B14F-4D97-AF65-F5344CB8AC3E}">
        <p14:creationId xmlns:p14="http://schemas.microsoft.com/office/powerpoint/2010/main" val="3666836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18C0DB9-646C-7A6E-F6B6-9D161EE3A2F3}"/>
              </a:ext>
            </a:extLst>
          </p:cNvPr>
          <p:cNvSpPr>
            <a:spLocks noGrp="1"/>
          </p:cNvSpPr>
          <p:nvPr>
            <p:ph type="title"/>
          </p:nvPr>
        </p:nvSpPr>
        <p:spPr/>
        <p:txBody>
          <a:bodyPr/>
          <a:lstStyle/>
          <a:p>
            <a:r>
              <a:rPr lang="es-ES_tradnl" dirty="0"/>
              <a:t>R</a:t>
            </a:r>
          </a:p>
        </p:txBody>
      </p:sp>
      <p:pic>
        <p:nvPicPr>
          <p:cNvPr id="8" name="Marcador de contenido 7">
            <a:extLst>
              <a:ext uri="{FF2B5EF4-FFF2-40B4-BE49-F238E27FC236}">
                <a16:creationId xmlns:a16="http://schemas.microsoft.com/office/drawing/2014/main" id="{CD4BDF49-366D-0BC0-86B7-A6F5EC71DFA0}"/>
              </a:ext>
            </a:extLst>
          </p:cNvPr>
          <p:cNvPicPr>
            <a:picLocks noGrp="1" noChangeAspect="1"/>
          </p:cNvPicPr>
          <p:nvPr>
            <p:ph sz="half" idx="1"/>
          </p:nvPr>
        </p:nvPicPr>
        <p:blipFill>
          <a:blip r:embed="rId3"/>
          <a:stretch>
            <a:fillRect/>
          </a:stretch>
        </p:blipFill>
        <p:spPr>
          <a:xfrm>
            <a:off x="687859" y="1610203"/>
            <a:ext cx="4598516" cy="4515159"/>
          </a:xfrm>
        </p:spPr>
      </p:pic>
      <p:sp>
        <p:nvSpPr>
          <p:cNvPr id="6" name="Marcador de contenido 5">
            <a:extLst>
              <a:ext uri="{FF2B5EF4-FFF2-40B4-BE49-F238E27FC236}">
                <a16:creationId xmlns:a16="http://schemas.microsoft.com/office/drawing/2014/main" id="{491B8874-6E85-4A89-54BF-3B58F417D501}"/>
              </a:ext>
            </a:extLst>
          </p:cNvPr>
          <p:cNvSpPr>
            <a:spLocks noGrp="1"/>
          </p:cNvSpPr>
          <p:nvPr>
            <p:ph sz="half" idx="2"/>
          </p:nvPr>
        </p:nvSpPr>
        <p:spPr>
          <a:xfrm>
            <a:off x="5436716" y="2800042"/>
            <a:ext cx="6455204" cy="3509318"/>
          </a:xfrm>
        </p:spPr>
        <p:txBody>
          <a:bodyPr>
            <a:noAutofit/>
          </a:bodyPr>
          <a:lstStyle/>
          <a:p>
            <a:pPr marL="514350" indent="-514350">
              <a:buAutoNum type="arabicPeriod"/>
            </a:pPr>
            <a:r>
              <a:rPr lang="es-US" sz="1400" dirty="0">
                <a:solidFill>
                  <a:srgbClr val="141413"/>
                </a:solidFill>
                <a:effectLst/>
                <a:latin typeface="Fira Sans" panose="020B0503050000020004" pitchFamily="34" charset="0"/>
              </a:rPr>
              <a:t>R es gratuito y de código abierto</a:t>
            </a:r>
            <a:endParaRPr lang="es-US" sz="1400" dirty="0">
              <a:solidFill>
                <a:srgbClr val="872028"/>
              </a:solidFill>
              <a:latin typeface="Fira Sans" panose="020B0503050000020004" pitchFamily="34" charset="0"/>
            </a:endParaRPr>
          </a:p>
          <a:p>
            <a:pPr marL="514350" indent="-514350">
              <a:buAutoNum type="arabicPeriod"/>
            </a:pPr>
            <a:r>
              <a:rPr lang="es-US" sz="1400" dirty="0">
                <a:solidFill>
                  <a:srgbClr val="141413"/>
                </a:solidFill>
                <a:effectLst/>
                <a:latin typeface="Fira Sans" panose="020B0503050000020004" pitchFamily="34" charset="0"/>
              </a:rPr>
              <a:t>Se ejecuta en todas las plataformas principales: Windows, Mac Os, UNIX/Linux. </a:t>
            </a:r>
          </a:p>
          <a:p>
            <a:pPr marL="514350" indent="-514350">
              <a:buAutoNum type="arabicPeriod"/>
            </a:pPr>
            <a:r>
              <a:rPr lang="es-US" sz="1400" dirty="0">
                <a:solidFill>
                  <a:srgbClr val="141413"/>
                </a:solidFill>
                <a:effectLst/>
                <a:latin typeface="Fira Sans" panose="020B0503050000020004" pitchFamily="34" charset="0"/>
              </a:rPr>
              <a:t>Los scripts y los objetos de datos se pueden compartir sin problemas entre plataformas. </a:t>
            </a:r>
          </a:p>
          <a:p>
            <a:pPr marL="514350" indent="-514350">
              <a:buAutoNum type="arabicPeriod"/>
            </a:pPr>
            <a:r>
              <a:rPr lang="es-US" sz="1400" dirty="0">
                <a:solidFill>
                  <a:srgbClr val="141413"/>
                </a:solidFill>
                <a:effectLst/>
                <a:latin typeface="Fira Sans" panose="020B0503050000020004" pitchFamily="34" charset="0"/>
              </a:rPr>
              <a:t>Existe una comunidad grande, creciente y activa de usuarios de R y, como resultado, hay numerosos recursos para aprender y hacer preguntas</a:t>
            </a:r>
          </a:p>
          <a:p>
            <a:pPr marL="514350" indent="-514350">
              <a:buAutoNum type="arabicPeriod"/>
            </a:pPr>
            <a:r>
              <a:rPr lang="es-US" sz="1400" dirty="0">
                <a:solidFill>
                  <a:srgbClr val="141413"/>
                </a:solidFill>
                <a:effectLst/>
                <a:latin typeface="Fira Sans" panose="020B0503050000020004" pitchFamily="34" charset="0"/>
              </a:rPr>
              <a:t>Es fácil para otras personas contribuir complementos (</a:t>
            </a:r>
            <a:r>
              <a:rPr lang="es-US" sz="1400" dirty="0" err="1">
                <a:solidFill>
                  <a:srgbClr val="141413"/>
                </a:solidFill>
                <a:effectLst/>
                <a:latin typeface="Fira Sans" panose="020B0503050000020004" pitchFamily="34" charset="0"/>
              </a:rPr>
              <a:t>add-ons</a:t>
            </a:r>
            <a:r>
              <a:rPr lang="es-US" sz="1400" dirty="0">
                <a:solidFill>
                  <a:srgbClr val="141413"/>
                </a:solidFill>
                <a:effectLst/>
                <a:latin typeface="Fira Sans" panose="020B0503050000020004" pitchFamily="34" charset="0"/>
              </a:rPr>
              <a:t> en inglés) que les permiten a los desarrolladores compartir implementaciones de software de nuevas metodologías de ciencia de datos. Esto les da a los usuarios de R acceso temprano a los métodos y herramientas más recientes que se desarrollan para una amplia variedad de disciplinas, incluyendo la ecología, la biología molecular, las ciencias sociales y la geografía, entre otros campos.</a:t>
            </a:r>
          </a:p>
        </p:txBody>
      </p:sp>
      <p:sp>
        <p:nvSpPr>
          <p:cNvPr id="9" name="CuadroTexto 8">
            <a:extLst>
              <a:ext uri="{FF2B5EF4-FFF2-40B4-BE49-F238E27FC236}">
                <a16:creationId xmlns:a16="http://schemas.microsoft.com/office/drawing/2014/main" id="{2B0F2D06-032F-32F2-2EB8-EAA8BEE6B761}"/>
              </a:ext>
            </a:extLst>
          </p:cNvPr>
          <p:cNvSpPr txBox="1"/>
          <p:nvPr/>
        </p:nvSpPr>
        <p:spPr>
          <a:xfrm>
            <a:off x="5436716" y="548640"/>
            <a:ext cx="5973291"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800" b="0" i="0" u="none" strike="noStrike" kern="1200" cap="none" spc="0" normalizeH="0" baseline="0" noProof="0" dirty="0">
                <a:ln>
                  <a:noFill/>
                </a:ln>
                <a:solidFill>
                  <a:prstClr val="black"/>
                </a:solidFill>
                <a:effectLst/>
                <a:uLnTx/>
                <a:uFillTx/>
                <a:latin typeface="Fira Sans" panose="020B0503050000020004" pitchFamily="34" charset="0"/>
                <a:ea typeface="+mn-ea"/>
                <a:cs typeface="+mn-cs"/>
              </a:rPr>
              <a:t>R es un lenguaje creado por estadísticos como ambiente interactivo para análisis de datos. E</a:t>
            </a:r>
            <a:r>
              <a:rPr kumimoji="0" lang="es-US" sz="1800" b="0" i="0" u="none" strike="noStrike" kern="1200" cap="none" spc="0" normalizeH="0" baseline="0" noProof="0" dirty="0">
                <a:ln>
                  <a:noFill/>
                </a:ln>
                <a:solidFill>
                  <a:srgbClr val="000000"/>
                </a:solidFill>
                <a:effectLst/>
                <a:uLnTx/>
                <a:uFillTx/>
                <a:latin typeface="Fira Sans" panose="020B0503050000020004" pitchFamily="34" charset="0"/>
                <a:ea typeface="+mn-ea"/>
                <a:cs typeface="+mn-cs"/>
              </a:rPr>
              <a:t>n R pueden guardar su trabajo como una secuencia de comandos, conocida como un script, que se pueden ejecutar fácilmente en cualquier momento. Estos scripts sirven como un registro del análisis que realizaron, una característica clave que facilita el trabajo reproducible.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dirty="0">
              <a:ln>
                <a:noFill/>
              </a:ln>
              <a:solidFill>
                <a:prstClr val="black"/>
              </a:solidFill>
              <a:effectLst/>
              <a:uLnTx/>
              <a:uFillTx/>
              <a:latin typeface="Fira Sans" panose="020B0503050000020004" pitchFamily="34" charset="0"/>
              <a:ea typeface="+mn-ea"/>
              <a:cs typeface="+mn-cs"/>
            </a:endParaRPr>
          </a:p>
        </p:txBody>
      </p:sp>
      <p:sp>
        <p:nvSpPr>
          <p:cNvPr id="10" name="CuadroTexto 9">
            <a:extLst>
              <a:ext uri="{FF2B5EF4-FFF2-40B4-BE49-F238E27FC236}">
                <a16:creationId xmlns:a16="http://schemas.microsoft.com/office/drawing/2014/main" id="{70880EB7-C734-EEEC-91AC-80C54E7A8DE0}"/>
              </a:ext>
            </a:extLst>
          </p:cNvPr>
          <p:cNvSpPr txBox="1"/>
          <p:nvPr/>
        </p:nvSpPr>
        <p:spPr>
          <a:xfrm>
            <a:off x="838200" y="6125362"/>
            <a:ext cx="412921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800" b="0" i="0" u="none" strike="noStrike" kern="1200" cap="none" spc="0" normalizeH="0" baseline="0" noProof="0" dirty="0">
                <a:ln>
                  <a:noFill/>
                </a:ln>
                <a:solidFill>
                  <a:prstClr val="black"/>
                </a:solidFill>
                <a:effectLst/>
                <a:uLnTx/>
                <a:uFillTx/>
                <a:latin typeface="Fira Sans" panose="020B0503050000020004" pitchFamily="34" charset="0"/>
                <a:ea typeface="+mn-ea"/>
                <a:cs typeface="+mn-cs"/>
              </a:rPr>
              <a:t>Consola R: ejecuta comandos a la medida que se escriben.</a:t>
            </a:r>
          </a:p>
        </p:txBody>
      </p:sp>
    </p:spTree>
    <p:extLst>
      <p:ext uri="{BB962C8B-B14F-4D97-AF65-F5344CB8AC3E}">
        <p14:creationId xmlns:p14="http://schemas.microsoft.com/office/powerpoint/2010/main" val="276639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27772B4-60DD-9ED0-F9C3-A18C2F8B727D}"/>
              </a:ext>
            </a:extLst>
          </p:cNvPr>
          <p:cNvSpPr>
            <a:spLocks noGrp="1"/>
          </p:cNvSpPr>
          <p:nvPr>
            <p:ph type="title"/>
          </p:nvPr>
        </p:nvSpPr>
        <p:spPr/>
        <p:txBody>
          <a:bodyPr/>
          <a:lstStyle/>
          <a:p>
            <a:r>
              <a:rPr lang="es-ES_tradnl" dirty="0" err="1"/>
              <a:t>RStudio</a:t>
            </a:r>
            <a:endParaRPr lang="es-ES_tradnl" dirty="0"/>
          </a:p>
        </p:txBody>
      </p:sp>
      <p:pic>
        <p:nvPicPr>
          <p:cNvPr id="8" name="Marcador de contenido 7">
            <a:extLst>
              <a:ext uri="{FF2B5EF4-FFF2-40B4-BE49-F238E27FC236}">
                <a16:creationId xmlns:a16="http://schemas.microsoft.com/office/drawing/2014/main" id="{C0576BA9-55BC-5B81-420E-F8F4B13ABADA}"/>
              </a:ext>
            </a:extLst>
          </p:cNvPr>
          <p:cNvPicPr>
            <a:picLocks noGrp="1" noChangeAspect="1"/>
          </p:cNvPicPr>
          <p:nvPr>
            <p:ph sz="half" idx="1"/>
          </p:nvPr>
        </p:nvPicPr>
        <p:blipFill>
          <a:blip r:embed="rId2"/>
          <a:stretch>
            <a:fillRect/>
          </a:stretch>
        </p:blipFill>
        <p:spPr>
          <a:xfrm>
            <a:off x="587976" y="1808310"/>
            <a:ext cx="5181600" cy="3241378"/>
          </a:xfrm>
        </p:spPr>
      </p:pic>
      <p:sp>
        <p:nvSpPr>
          <p:cNvPr id="6" name="Marcador de contenido 5">
            <a:extLst>
              <a:ext uri="{FF2B5EF4-FFF2-40B4-BE49-F238E27FC236}">
                <a16:creationId xmlns:a16="http://schemas.microsoft.com/office/drawing/2014/main" id="{AFA0281B-DCF2-E616-4402-9EA0EE708659}"/>
              </a:ext>
            </a:extLst>
          </p:cNvPr>
          <p:cNvSpPr>
            <a:spLocks noGrp="1"/>
          </p:cNvSpPr>
          <p:nvPr>
            <p:ph sz="half" idx="2"/>
          </p:nvPr>
        </p:nvSpPr>
        <p:spPr>
          <a:xfrm>
            <a:off x="6172200" y="1276135"/>
            <a:ext cx="5834448" cy="4305729"/>
          </a:xfrm>
        </p:spPr>
        <p:txBody>
          <a:bodyPr>
            <a:normAutofit/>
          </a:bodyPr>
          <a:lstStyle/>
          <a:p>
            <a:pPr algn="just"/>
            <a:r>
              <a:rPr lang="es-ES_tradnl" sz="2400" dirty="0" err="1"/>
              <a:t>RStudio</a:t>
            </a:r>
            <a:r>
              <a:rPr lang="es-ES_tradnl" sz="2400" dirty="0"/>
              <a:t> al iniciarlo tiene tres paneles. El izquierdo muestra la consola R, a la derecha tienen un panel </a:t>
            </a:r>
            <a:r>
              <a:rPr lang="es-ES_tradnl" sz="2400" dirty="0" err="1"/>
              <a:t>superiorque</a:t>
            </a:r>
            <a:r>
              <a:rPr lang="es-ES_tradnl" sz="2400" dirty="0"/>
              <a:t> incluye </a:t>
            </a:r>
            <a:r>
              <a:rPr lang="es-ES_tradnl" sz="2400" i="1" dirty="0" err="1"/>
              <a:t>Environment</a:t>
            </a:r>
            <a:r>
              <a:rPr lang="es-ES_tradnl" sz="2400" dirty="0"/>
              <a:t> y </a:t>
            </a:r>
            <a:r>
              <a:rPr lang="es-ES_tradnl" sz="2400" i="1" dirty="0" err="1"/>
              <a:t>History</a:t>
            </a:r>
            <a:r>
              <a:rPr lang="es-ES_tradnl" sz="2400" i="1" dirty="0"/>
              <a:t>, </a:t>
            </a:r>
            <a:r>
              <a:rPr lang="es-ES_tradnl" sz="2400" dirty="0"/>
              <a:t>y al inferior cinco pestañas: </a:t>
            </a:r>
            <a:r>
              <a:rPr lang="es-ES_tradnl" sz="2400" i="1" dirty="0"/>
              <a:t>File</a:t>
            </a:r>
            <a:r>
              <a:rPr lang="es-ES_tradnl" sz="2400" dirty="0"/>
              <a:t>, </a:t>
            </a:r>
            <a:r>
              <a:rPr lang="es-ES_tradnl" sz="2400" i="1" dirty="0" err="1"/>
              <a:t>Plots</a:t>
            </a:r>
            <a:r>
              <a:rPr lang="es-ES_tradnl" sz="2400" dirty="0"/>
              <a:t>, </a:t>
            </a:r>
            <a:r>
              <a:rPr lang="es-ES_tradnl" sz="2400" i="1" dirty="0" err="1"/>
              <a:t>Packages</a:t>
            </a:r>
            <a:r>
              <a:rPr lang="es-ES_tradnl" sz="2400" dirty="0"/>
              <a:t>, </a:t>
            </a:r>
            <a:r>
              <a:rPr lang="es-ES_tradnl" sz="2400" i="1" dirty="0" err="1"/>
              <a:t>Help</a:t>
            </a:r>
            <a:r>
              <a:rPr lang="es-ES_tradnl" sz="2400" dirty="0"/>
              <a:t>, </a:t>
            </a:r>
            <a:r>
              <a:rPr lang="es-ES_tradnl" sz="2400" i="1" dirty="0" err="1"/>
              <a:t>Viewer</a:t>
            </a:r>
            <a:r>
              <a:rPr lang="es-ES_tradnl" sz="2400" dirty="0"/>
              <a:t> (distinto al mío en mi computadora, es personalizable). </a:t>
            </a:r>
          </a:p>
        </p:txBody>
      </p:sp>
      <p:sp>
        <p:nvSpPr>
          <p:cNvPr id="9" name="CuadroTexto 8">
            <a:extLst>
              <a:ext uri="{FF2B5EF4-FFF2-40B4-BE49-F238E27FC236}">
                <a16:creationId xmlns:a16="http://schemas.microsoft.com/office/drawing/2014/main" id="{242CE8BF-90E3-4071-5B47-B9972E304078}"/>
              </a:ext>
            </a:extLst>
          </p:cNvPr>
          <p:cNvSpPr txBox="1"/>
          <p:nvPr/>
        </p:nvSpPr>
        <p:spPr>
          <a:xfrm>
            <a:off x="185352" y="5167310"/>
            <a:ext cx="5986848"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_tradnl" sz="1800" b="0" i="0" u="none" strike="noStrike" kern="1200" cap="none" spc="0" normalizeH="0" baseline="0" noProof="0" dirty="0">
                <a:ln>
                  <a:noFill/>
                </a:ln>
                <a:solidFill>
                  <a:prstClr val="black"/>
                </a:solidFill>
                <a:effectLst/>
                <a:uLnTx/>
                <a:uFillTx/>
                <a:latin typeface="Fira Sans" panose="020B0503050000020004" pitchFamily="34" charset="0"/>
                <a:ea typeface="+mn-ea"/>
                <a:cs typeface="+mn-cs"/>
              </a:rPr>
              <a:t>Usaremos </a:t>
            </a:r>
            <a:r>
              <a:rPr kumimoji="0" lang="es-ES_tradnl" sz="1800" b="0" i="0" u="none" strike="noStrike" kern="1200" cap="none" spc="0" normalizeH="0" baseline="0" noProof="0" dirty="0" err="1">
                <a:ln>
                  <a:noFill/>
                </a:ln>
                <a:solidFill>
                  <a:prstClr val="black"/>
                </a:solidFill>
                <a:effectLst/>
                <a:uLnTx/>
                <a:uFillTx/>
                <a:latin typeface="Fira Sans" panose="020B0503050000020004" pitchFamily="34" charset="0"/>
                <a:ea typeface="+mn-ea"/>
                <a:cs typeface="+mn-cs"/>
              </a:rPr>
              <a:t>RStudio</a:t>
            </a:r>
            <a:r>
              <a:rPr kumimoji="0" lang="es-ES_tradnl" sz="1800" b="0" i="0" u="none" strike="noStrike" kern="1200" cap="none" spc="0" normalizeH="0" baseline="0" noProof="0" dirty="0">
                <a:ln>
                  <a:noFill/>
                </a:ln>
                <a:solidFill>
                  <a:prstClr val="black"/>
                </a:solidFill>
                <a:effectLst/>
                <a:uLnTx/>
                <a:uFillTx/>
                <a:latin typeface="Fira Sans" panose="020B0503050000020004" pitchFamily="34" charset="0"/>
                <a:ea typeface="+mn-ea"/>
                <a:cs typeface="+mn-cs"/>
              </a:rPr>
              <a:t> y esta será nuestra plataforma de lanzamiento para nuestros proyectos de análisis de datos para sus proyectos. Este nos provee un editor para crear y editar scripts, entre otras herramientas útiles</a:t>
            </a:r>
          </a:p>
        </p:txBody>
      </p:sp>
    </p:spTree>
    <p:extLst>
      <p:ext uri="{BB962C8B-B14F-4D97-AF65-F5344CB8AC3E}">
        <p14:creationId xmlns:p14="http://schemas.microsoft.com/office/powerpoint/2010/main" val="230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95E4A7-4D23-C2E4-F27B-CCAE8B9E3074}"/>
              </a:ext>
            </a:extLst>
          </p:cNvPr>
          <p:cNvSpPr>
            <a:spLocks noGrp="1"/>
          </p:cNvSpPr>
          <p:nvPr>
            <p:ph type="title"/>
          </p:nvPr>
        </p:nvSpPr>
        <p:spPr>
          <a:xfrm>
            <a:off x="466722" y="586855"/>
            <a:ext cx="3201366" cy="3387497"/>
          </a:xfrm>
        </p:spPr>
        <p:txBody>
          <a:bodyPr anchor="b">
            <a:normAutofit/>
          </a:bodyPr>
          <a:lstStyle/>
          <a:p>
            <a:pPr algn="r"/>
            <a:r>
              <a:rPr lang="es-ES_tradnl" sz="4000" dirty="0">
                <a:solidFill>
                  <a:srgbClr val="FFFFFF"/>
                </a:solidFill>
              </a:rPr>
              <a:t>Lo básico de r</a:t>
            </a:r>
          </a:p>
        </p:txBody>
      </p:sp>
      <p:sp>
        <p:nvSpPr>
          <p:cNvPr id="3" name="Content Placeholder 2">
            <a:extLst>
              <a:ext uri="{FF2B5EF4-FFF2-40B4-BE49-F238E27FC236}">
                <a16:creationId xmlns:a16="http://schemas.microsoft.com/office/drawing/2014/main" id="{51D53781-9279-DB80-EC35-1AB60AFCFEE2}"/>
              </a:ext>
            </a:extLst>
          </p:cNvPr>
          <p:cNvSpPr>
            <a:spLocks noGrp="1"/>
          </p:cNvSpPr>
          <p:nvPr>
            <p:ph idx="1"/>
          </p:nvPr>
        </p:nvSpPr>
        <p:spPr>
          <a:xfrm>
            <a:off x="4504549" y="649480"/>
            <a:ext cx="6861058" cy="5546047"/>
          </a:xfrm>
        </p:spPr>
        <p:txBody>
          <a:bodyPr anchor="ctr">
            <a:normAutofit/>
          </a:bodyPr>
          <a:lstStyle/>
          <a:p>
            <a:r>
              <a:rPr lang="es-ES_tradnl" sz="2000" dirty="0">
                <a:latin typeface="Ubuntu" panose="020B0504030602030204" pitchFamily="34" charset="0"/>
              </a:rPr>
              <a:t>Lenguaje basado en objetos. Los objetos almacenan valor con dos (tres) posibles funciones ‘&lt;-’, ‘-&gt;’ o ‘=’. Si le decimos a R:</a:t>
            </a:r>
          </a:p>
          <a:p>
            <a:r>
              <a:rPr lang="es-ES_tradnl" sz="2000" dirty="0">
                <a:latin typeface="Ubuntu Mono" panose="020B0509030602030204" pitchFamily="49" charset="0"/>
              </a:rPr>
              <a:t>a&lt;-1</a:t>
            </a:r>
          </a:p>
          <a:p>
            <a:r>
              <a:rPr lang="es-ES_tradnl" sz="2000" dirty="0">
                <a:latin typeface="Ubuntu Mono" panose="020B0509030602030204" pitchFamily="49" charset="0"/>
              </a:rPr>
              <a:t>b&lt;--2</a:t>
            </a:r>
          </a:p>
          <a:p>
            <a:r>
              <a:rPr lang="es-ES_tradnl" sz="2000" dirty="0">
                <a:latin typeface="Ubuntu" panose="020B0504030602030204" pitchFamily="34" charset="0"/>
              </a:rPr>
              <a:t>y luego pedimos </a:t>
            </a:r>
            <a:r>
              <a:rPr lang="es-ES_tradnl" sz="2000" dirty="0" err="1">
                <a:latin typeface="Ubuntu Mono" panose="020B0509030602030204" pitchFamily="49" charset="0"/>
              </a:rPr>
              <a:t>print</a:t>
            </a:r>
            <a:r>
              <a:rPr lang="es-ES_tradnl" sz="2000" dirty="0">
                <a:latin typeface="Ubuntu Mono" panose="020B0509030602030204" pitchFamily="49" charset="0"/>
              </a:rPr>
              <a:t>(a) </a:t>
            </a:r>
            <a:r>
              <a:rPr lang="es-ES_tradnl" sz="2000" dirty="0">
                <a:latin typeface="Ubuntu" panose="020B0504030602030204" pitchFamily="34" charset="0"/>
              </a:rPr>
              <a:t>y</a:t>
            </a:r>
            <a:r>
              <a:rPr lang="es-ES_tradnl" sz="2000" dirty="0">
                <a:latin typeface="Ubuntu Mono" panose="020B0509030602030204" pitchFamily="49" charset="0"/>
              </a:rPr>
              <a:t> </a:t>
            </a:r>
            <a:r>
              <a:rPr lang="es-ES_tradnl" sz="2000" dirty="0" err="1">
                <a:latin typeface="Ubuntu Mono" panose="020B0509030602030204" pitchFamily="49" charset="0"/>
              </a:rPr>
              <a:t>print</a:t>
            </a:r>
            <a:r>
              <a:rPr lang="es-ES_tradnl" sz="2000" dirty="0">
                <a:latin typeface="Ubuntu Mono" panose="020B0509030602030204" pitchFamily="49" charset="0"/>
              </a:rPr>
              <a:t>(b), </a:t>
            </a:r>
            <a:r>
              <a:rPr lang="es-ES_tradnl" sz="2000" dirty="0">
                <a:latin typeface="Ubuntu" panose="020B0504030602030204" pitchFamily="34" charset="0"/>
              </a:rPr>
              <a:t>saldrán</a:t>
            </a:r>
            <a:r>
              <a:rPr lang="es-ES_tradnl" sz="2000" dirty="0">
                <a:latin typeface="Ubuntu Mono" panose="020B0509030602030204" pitchFamily="49" charset="0"/>
              </a:rPr>
              <a:t> 1 </a:t>
            </a:r>
            <a:r>
              <a:rPr lang="es-ES_tradnl" sz="2000" dirty="0">
                <a:latin typeface="Ubuntu" panose="020B0504030602030204" pitchFamily="34" charset="0"/>
              </a:rPr>
              <a:t>y</a:t>
            </a:r>
            <a:r>
              <a:rPr lang="es-ES_tradnl" sz="2000" dirty="0">
                <a:latin typeface="Ubuntu Mono" panose="020B0509030602030204" pitchFamily="49" charset="0"/>
              </a:rPr>
              <a:t> -2</a:t>
            </a:r>
            <a:r>
              <a:rPr lang="es-ES_tradnl" sz="2000" dirty="0">
                <a:latin typeface="Ubuntu" panose="020B0504030602030204" pitchFamily="34" charset="0"/>
              </a:rPr>
              <a:t>. Seguiremos con objetos a través del curso. Los objetos se pueden ver en la consola </a:t>
            </a:r>
            <a:r>
              <a:rPr lang="es-ES_tradnl" sz="2000" i="1" dirty="0">
                <a:latin typeface="Ubuntu" panose="020B0504030602030204" pitchFamily="34" charset="0"/>
              </a:rPr>
              <a:t>Ambiente</a:t>
            </a:r>
            <a:r>
              <a:rPr lang="es-ES_tradnl" sz="2000" dirty="0">
                <a:latin typeface="Ubuntu" panose="020B0504030602030204" pitchFamily="34" charset="0"/>
              </a:rPr>
              <a:t> o usando la función </a:t>
            </a:r>
            <a:r>
              <a:rPr lang="es-ES_tradnl" sz="2000" dirty="0" err="1">
                <a:latin typeface="Ubuntu Mono" panose="020B0509030602030204" pitchFamily="49" charset="0"/>
              </a:rPr>
              <a:t>ls</a:t>
            </a:r>
            <a:r>
              <a:rPr lang="es-ES_tradnl" sz="2000" dirty="0">
                <a:latin typeface="Ubuntu Mono" panose="020B0509030602030204" pitchFamily="49" charset="0"/>
              </a:rPr>
              <a:t>()</a:t>
            </a:r>
            <a:r>
              <a:rPr lang="es-ES_tradnl" sz="2000" dirty="0">
                <a:latin typeface="Ubuntu" panose="020B0504030602030204" pitchFamily="34" charset="0"/>
              </a:rPr>
              <a:t>. Los objetos también pueden denominarse </a:t>
            </a:r>
            <a:r>
              <a:rPr lang="es-ES_tradnl" sz="2000" i="1" dirty="0">
                <a:latin typeface="Ubuntu" panose="020B0504030602030204" pitchFamily="34" charset="0"/>
              </a:rPr>
              <a:t>variables</a:t>
            </a:r>
            <a:r>
              <a:rPr lang="es-ES_tradnl" sz="2000" dirty="0">
                <a:latin typeface="Ubuntu" panose="020B0504030602030204" pitchFamily="34" charset="0"/>
              </a:rPr>
              <a:t>.</a:t>
            </a:r>
          </a:p>
          <a:p>
            <a:r>
              <a:rPr lang="es-ES_tradnl" sz="2000" dirty="0">
                <a:latin typeface="Ubuntu" panose="020B0504030602030204" pitchFamily="34" charset="0"/>
              </a:rPr>
              <a:t>Paneles: </a:t>
            </a:r>
            <a:r>
              <a:rPr lang="es-ES_tradnl" sz="2000" dirty="0" err="1">
                <a:latin typeface="Ubuntu" panose="020B0504030602030204" pitchFamily="34" charset="0"/>
              </a:rPr>
              <a:t>RStudio</a:t>
            </a:r>
            <a:r>
              <a:rPr lang="es-ES_tradnl" sz="2000" dirty="0">
                <a:latin typeface="Ubuntu" panose="020B0504030602030204" pitchFamily="34" charset="0"/>
              </a:rPr>
              <a:t> cuenta con tres (y luego cuatro) paneles para mejorar interfaz con el programa de base R. Si no han modificado el R de fábrica, estos tres iniciales incluyen el de Consola, el de Ambiente y el de Archivos (en inglés, </a:t>
            </a:r>
            <a:r>
              <a:rPr lang="es-ES_tradnl" sz="2000" i="1" dirty="0" err="1">
                <a:latin typeface="Ubuntu" panose="020B0504030602030204" pitchFamily="34" charset="0"/>
              </a:rPr>
              <a:t>Console</a:t>
            </a:r>
            <a:r>
              <a:rPr lang="es-ES_tradnl" sz="2000" i="1" dirty="0">
                <a:latin typeface="Ubuntu" panose="020B0504030602030204" pitchFamily="34" charset="0"/>
              </a:rPr>
              <a:t>, </a:t>
            </a:r>
            <a:r>
              <a:rPr lang="es-ES_tradnl" sz="2000" i="1" dirty="0" err="1">
                <a:latin typeface="Ubuntu" panose="020B0504030602030204" pitchFamily="34" charset="0"/>
              </a:rPr>
              <a:t>Environment</a:t>
            </a:r>
            <a:r>
              <a:rPr lang="es-ES_tradnl" sz="2000" i="1" dirty="0">
                <a:latin typeface="Ubuntu" panose="020B0504030602030204" pitchFamily="34" charset="0"/>
              </a:rPr>
              <a:t> </a:t>
            </a:r>
            <a:r>
              <a:rPr lang="es-ES_tradnl" sz="2000" dirty="0">
                <a:latin typeface="Ubuntu" panose="020B0504030602030204" pitchFamily="34" charset="0"/>
              </a:rPr>
              <a:t>y </a:t>
            </a:r>
            <a:r>
              <a:rPr lang="es-ES_tradnl" sz="2000" i="1" dirty="0">
                <a:latin typeface="Ubuntu" panose="020B0504030602030204" pitchFamily="34" charset="0"/>
              </a:rPr>
              <a:t>Files</a:t>
            </a:r>
            <a:r>
              <a:rPr lang="es-ES_tradnl" sz="2000" dirty="0">
                <a:latin typeface="Ubuntu" panose="020B0504030602030204" pitchFamily="34" charset="0"/>
              </a:rPr>
              <a:t>). Cada una de estas incluye pestañas adicionales (como la Terminal, Historial o Paquetes, por ejemplo). </a:t>
            </a:r>
          </a:p>
        </p:txBody>
      </p:sp>
    </p:spTree>
    <p:extLst>
      <p:ext uri="{BB962C8B-B14F-4D97-AF65-F5344CB8AC3E}">
        <p14:creationId xmlns:p14="http://schemas.microsoft.com/office/powerpoint/2010/main" val="1144176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ADBF0-9059-3701-C636-4FE2D8A221A6}"/>
              </a:ext>
            </a:extLst>
          </p:cNvPr>
          <p:cNvSpPr>
            <a:spLocks noGrp="1"/>
          </p:cNvSpPr>
          <p:nvPr>
            <p:ph type="title"/>
          </p:nvPr>
        </p:nvSpPr>
        <p:spPr>
          <a:xfrm>
            <a:off x="841248" y="256032"/>
            <a:ext cx="10506456" cy="1014984"/>
          </a:xfrm>
        </p:spPr>
        <p:txBody>
          <a:bodyPr anchor="b">
            <a:normAutofit/>
          </a:bodyPr>
          <a:lstStyle/>
          <a:p>
            <a:r>
              <a:rPr lang="es-ES_tradnl" dirty="0"/>
              <a:t>OPCIONES GLOBALES</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3ED5985-06EA-555A-7A05-4EC7993FE6D5}"/>
              </a:ext>
            </a:extLst>
          </p:cNvPr>
          <p:cNvGraphicFramePr>
            <a:graphicFrameLocks noGrp="1"/>
          </p:cNvGraphicFramePr>
          <p:nvPr>
            <p:ph idx="1"/>
            <p:extLst>
              <p:ext uri="{D42A27DB-BD31-4B8C-83A1-F6EECF244321}">
                <p14:modId xmlns:p14="http://schemas.microsoft.com/office/powerpoint/2010/main" val="322119379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292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E7F6AB-5977-928C-F0AA-8CED7BFB88D4}"/>
              </a:ext>
            </a:extLst>
          </p:cNvPr>
          <p:cNvSpPr>
            <a:spLocks noGrp="1"/>
          </p:cNvSpPr>
          <p:nvPr>
            <p:ph type="title"/>
          </p:nvPr>
        </p:nvSpPr>
        <p:spPr>
          <a:xfrm>
            <a:off x="838200" y="557188"/>
            <a:ext cx="10515600" cy="1133499"/>
          </a:xfrm>
        </p:spPr>
        <p:txBody>
          <a:bodyPr>
            <a:normAutofit/>
          </a:bodyPr>
          <a:lstStyle/>
          <a:p>
            <a:pPr algn="ctr"/>
            <a:r>
              <a:rPr lang="es-ES_tradnl" sz="5200" dirty="0"/>
              <a:t>modularidad::paquetes</a:t>
            </a:r>
          </a:p>
        </p:txBody>
      </p:sp>
      <p:graphicFrame>
        <p:nvGraphicFramePr>
          <p:cNvPr id="5" name="Content Placeholder 2">
            <a:extLst>
              <a:ext uri="{FF2B5EF4-FFF2-40B4-BE49-F238E27FC236}">
                <a16:creationId xmlns:a16="http://schemas.microsoft.com/office/drawing/2014/main" id="{4FA6149D-838E-933B-1E9E-CF7F0028C5B3}"/>
              </a:ext>
            </a:extLst>
          </p:cNvPr>
          <p:cNvGraphicFramePr>
            <a:graphicFrameLocks noGrp="1"/>
          </p:cNvGraphicFramePr>
          <p:nvPr>
            <p:ph idx="1"/>
            <p:extLst>
              <p:ext uri="{D42A27DB-BD31-4B8C-83A1-F6EECF244321}">
                <p14:modId xmlns:p14="http://schemas.microsoft.com/office/powerpoint/2010/main" val="313353489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285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C64E8-7438-A8CF-1CB6-00E1AD1748C3}"/>
              </a:ext>
            </a:extLst>
          </p:cNvPr>
          <p:cNvSpPr>
            <a:spLocks noGrp="1"/>
          </p:cNvSpPr>
          <p:nvPr>
            <p:ph type="title"/>
          </p:nvPr>
        </p:nvSpPr>
        <p:spPr>
          <a:xfrm>
            <a:off x="761800" y="762001"/>
            <a:ext cx="5334197" cy="1708242"/>
          </a:xfrm>
        </p:spPr>
        <p:txBody>
          <a:bodyPr anchor="ctr">
            <a:normAutofit/>
          </a:bodyPr>
          <a:lstStyle/>
          <a:p>
            <a:r>
              <a:rPr lang="es-ES_tradnl" sz="4000"/>
              <a:t>Funciones</a:t>
            </a:r>
          </a:p>
        </p:txBody>
      </p:sp>
      <p:sp>
        <p:nvSpPr>
          <p:cNvPr id="3" name="Content Placeholder 2">
            <a:extLst>
              <a:ext uri="{FF2B5EF4-FFF2-40B4-BE49-F238E27FC236}">
                <a16:creationId xmlns:a16="http://schemas.microsoft.com/office/drawing/2014/main" id="{2117FB01-45A2-E413-FBD6-E3B694F2355F}"/>
              </a:ext>
            </a:extLst>
          </p:cNvPr>
          <p:cNvSpPr>
            <a:spLocks noGrp="1"/>
          </p:cNvSpPr>
          <p:nvPr>
            <p:ph idx="1"/>
          </p:nvPr>
        </p:nvSpPr>
        <p:spPr>
          <a:xfrm>
            <a:off x="761800" y="2470244"/>
            <a:ext cx="5334197" cy="3769835"/>
          </a:xfrm>
        </p:spPr>
        <p:txBody>
          <a:bodyPr anchor="ctr">
            <a:normAutofit/>
          </a:bodyPr>
          <a:lstStyle/>
          <a:p>
            <a:r>
              <a:rPr lang="es-ES_tradnl" sz="1100" noProof="0"/>
              <a:t>Teniendo variables u objetos definidos en el espacio de trabajo, el análisis de datos se da a través de una serie de funciones aplicadas a los datos. </a:t>
            </a:r>
          </a:p>
          <a:p>
            <a:r>
              <a:rPr lang="es-ES_tradnl" sz="1100" b="1" noProof="0"/>
              <a:t>¿Qué es una función?</a:t>
            </a:r>
          </a:p>
          <a:p>
            <a:pPr lvl="1"/>
            <a:r>
              <a:rPr lang="es-ES_tradnl" sz="1100" noProof="0"/>
              <a:t>Un bloque de código reutilizable que realiza una tarea específica.</a:t>
            </a:r>
          </a:p>
          <a:p>
            <a:pPr lvl="1"/>
            <a:r>
              <a:rPr lang="es-ES_tradnl" sz="1100" noProof="0"/>
              <a:t>Permite automatizar cálculos y análisis en R.</a:t>
            </a:r>
          </a:p>
          <a:p>
            <a:r>
              <a:rPr lang="es-ES_tradnl" sz="1100" noProof="0"/>
              <a:t>Ya han visto varias: </a:t>
            </a:r>
            <a:r>
              <a:rPr lang="es-ES_tradnl" sz="1100" noProof="0">
                <a:latin typeface="Ubuntu Mono" panose="020B0509030602030204" pitchFamily="49" charset="0"/>
              </a:rPr>
              <a:t>install.packages</a:t>
            </a:r>
            <a:r>
              <a:rPr lang="es-ES_tradnl" sz="1100" noProof="0"/>
              <a:t>, </a:t>
            </a:r>
            <a:r>
              <a:rPr lang="es-ES_tradnl" sz="1100" noProof="0">
                <a:latin typeface="Ubuntu Mono" panose="020B0509030602030204" pitchFamily="49" charset="0"/>
              </a:rPr>
              <a:t>library</a:t>
            </a:r>
            <a:r>
              <a:rPr lang="es-ES_tradnl" sz="1100" noProof="0"/>
              <a:t>, </a:t>
            </a:r>
            <a:r>
              <a:rPr lang="es-ES_tradnl" sz="1100" noProof="0">
                <a:latin typeface="Ubuntu Mono" panose="020B0509030602030204" pitchFamily="49" charset="0"/>
              </a:rPr>
              <a:t>ls</a:t>
            </a:r>
            <a:r>
              <a:rPr lang="es-ES_tradnl" sz="1100" noProof="0"/>
              <a:t>, </a:t>
            </a:r>
            <a:r>
              <a:rPr lang="es-ES_tradnl" sz="1100" noProof="0">
                <a:latin typeface="Ubuntu Mono" panose="020B0509030602030204" pitchFamily="49" charset="0"/>
              </a:rPr>
              <a:t>sqrt</a:t>
            </a:r>
            <a:r>
              <a:rPr lang="es-ES_tradnl" sz="1100" noProof="0"/>
              <a:t> son funciones. En general necesitamos al pedir una función evaluarla con paréntesis.</a:t>
            </a:r>
          </a:p>
          <a:p>
            <a:pPr lvl="1"/>
            <a:r>
              <a:rPr lang="es-ES_tradnl" sz="1100" noProof="0"/>
              <a:t>¿qué ocurre si tratan de correr </a:t>
            </a:r>
            <a:r>
              <a:rPr lang="es-ES_tradnl" sz="1100" noProof="0">
                <a:latin typeface="Ubuntu Mono" panose="020B0509030602030204" pitchFamily="49" charset="0"/>
              </a:rPr>
              <a:t>log</a:t>
            </a:r>
            <a:r>
              <a:rPr lang="es-ES_tradnl" sz="1100" noProof="0"/>
              <a:t> o </a:t>
            </a:r>
            <a:r>
              <a:rPr lang="es-ES_tradnl" sz="1100" noProof="0">
                <a:latin typeface="Ubuntu Mono" panose="020B0509030602030204" pitchFamily="49" charset="0"/>
              </a:rPr>
              <a:t>ls</a:t>
            </a:r>
            <a:r>
              <a:rPr lang="es-ES_tradnl" sz="1100" noProof="0"/>
              <a:t> en vez de </a:t>
            </a:r>
            <a:r>
              <a:rPr lang="es-ES_tradnl" sz="1100" noProof="0">
                <a:latin typeface="Ubuntu Mono" panose="020B0509030602030204" pitchFamily="49" charset="0"/>
              </a:rPr>
              <a:t>log(n) </a:t>
            </a:r>
            <a:r>
              <a:rPr lang="es-ES_tradnl" sz="1100" noProof="0">
                <a:latin typeface="Ubuntu" panose="020B0504030602030204" pitchFamily="34" charset="0"/>
              </a:rPr>
              <a:t>o</a:t>
            </a:r>
            <a:r>
              <a:rPr lang="es-ES_tradnl" sz="1100" noProof="0">
                <a:latin typeface="Ubuntu Mono" panose="020B0509030602030204" pitchFamily="49" charset="0"/>
              </a:rPr>
              <a:t> ls()</a:t>
            </a:r>
            <a:r>
              <a:rPr lang="es-ES_tradnl" sz="1100" noProof="0"/>
              <a:t>?</a:t>
            </a:r>
          </a:p>
          <a:p>
            <a:r>
              <a:rPr lang="es-ES_tradnl" sz="1100" noProof="0"/>
              <a:t>Si no sabemos qué hace una función podemos pedirle a R ayuda con la función </a:t>
            </a:r>
            <a:r>
              <a:rPr lang="es-ES_tradnl" sz="1100" noProof="0">
                <a:latin typeface="Ubuntu Mono" panose="020B0509030602030204" pitchFamily="49" charset="0"/>
              </a:rPr>
              <a:t>help(función) </a:t>
            </a:r>
            <a:r>
              <a:rPr lang="es-ES_tradnl" sz="1100" noProof="0"/>
              <a:t>o la interrogante de cierre </a:t>
            </a:r>
            <a:r>
              <a:rPr lang="es-ES_tradnl" sz="1100" noProof="0">
                <a:latin typeface="Ubuntu Mono" panose="020B0509030602030204" pitchFamily="49" charset="0"/>
              </a:rPr>
              <a:t>?función</a:t>
            </a:r>
            <a:r>
              <a:rPr lang="es-ES_tradnl" sz="1100" noProof="0"/>
              <a:t>. </a:t>
            </a:r>
            <a:r>
              <a:rPr lang="es-ES_tradnl" sz="1100"/>
              <a:t>Hay variaciones a esto.</a:t>
            </a:r>
            <a:endParaRPr lang="es-ES_tradnl" sz="1100" noProof="0"/>
          </a:p>
          <a:p>
            <a:r>
              <a:rPr lang="es-ES_tradnl" sz="1100" noProof="0"/>
              <a:t>Las funciones precisan argumentos. Por ejemplo, para correr </a:t>
            </a:r>
            <a:r>
              <a:rPr lang="es-ES_tradnl" sz="1100" noProof="0">
                <a:latin typeface="Ubuntu Mono" panose="020B0509030602030204" pitchFamily="49" charset="0"/>
              </a:rPr>
              <a:t>sqrt()</a:t>
            </a:r>
            <a:r>
              <a:rPr lang="es-ES_tradnl" sz="1100" noProof="0"/>
              <a:t> o </a:t>
            </a:r>
            <a:r>
              <a:rPr lang="es-ES_tradnl" sz="1100" noProof="0">
                <a:latin typeface="Ubuntu Mono" panose="020B0509030602030204" pitchFamily="49" charset="0"/>
              </a:rPr>
              <a:t>log() </a:t>
            </a:r>
            <a:r>
              <a:rPr lang="es-ES_tradnl" sz="1100" noProof="0"/>
              <a:t>necesitaremos decirle un número para que trate de evaluar la función. Algunos argumentos son necesarios, otros opcionales, que alteran el comportamiento por defecto de la función. Los argumentos se definen con </a:t>
            </a:r>
            <a:r>
              <a:rPr lang="es-ES_tradnl" sz="1100" noProof="0">
                <a:latin typeface="Ubuntu Mono" panose="020B0509030602030204" pitchFamily="49" charset="0"/>
              </a:rPr>
              <a:t>=</a:t>
            </a:r>
            <a:r>
              <a:rPr lang="es-ES_tradnl" sz="1100" noProof="0"/>
              <a:t>, no con </a:t>
            </a:r>
            <a:r>
              <a:rPr lang="es-ES_tradnl" sz="1100" noProof="0">
                <a:latin typeface="Ubuntu Mono" panose="020B0509030602030204" pitchFamily="49" charset="0"/>
              </a:rPr>
              <a:t>&lt;-</a:t>
            </a:r>
            <a:r>
              <a:rPr lang="es-ES_tradnl" sz="1100" noProof="0"/>
              <a:t>.</a:t>
            </a:r>
          </a:p>
          <a:p>
            <a:endParaRPr lang="es-ES_tradnl" sz="1100" noProof="0"/>
          </a:p>
        </p:txBody>
      </p:sp>
      <p:pic>
        <p:nvPicPr>
          <p:cNvPr id="5" name="Picture 4" descr="Magnifying glass showing decling performance">
            <a:extLst>
              <a:ext uri="{FF2B5EF4-FFF2-40B4-BE49-F238E27FC236}">
                <a16:creationId xmlns:a16="http://schemas.microsoft.com/office/drawing/2014/main" id="{B9B6A0E4-C4A3-374B-D40B-5575112BA459}"/>
              </a:ext>
            </a:extLst>
          </p:cNvPr>
          <p:cNvPicPr>
            <a:picLocks noChangeAspect="1"/>
          </p:cNvPicPr>
          <p:nvPr/>
        </p:nvPicPr>
        <p:blipFill>
          <a:blip r:embed="rId2"/>
          <a:srcRect l="17521" r="30642"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18069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0C75-9F17-85BD-FD93-16F4A7D34BC6}"/>
              </a:ext>
            </a:extLst>
          </p:cNvPr>
          <p:cNvSpPr>
            <a:spLocks noGrp="1"/>
          </p:cNvSpPr>
          <p:nvPr>
            <p:ph type="title"/>
          </p:nvPr>
        </p:nvSpPr>
        <p:spPr/>
        <p:txBody>
          <a:bodyPr/>
          <a:lstStyle/>
          <a:p>
            <a:r>
              <a:rPr lang="es-ES_tradnl" dirty="0"/>
              <a:t>Nombres de variables</a:t>
            </a:r>
          </a:p>
        </p:txBody>
      </p:sp>
      <p:sp>
        <p:nvSpPr>
          <p:cNvPr id="3" name="Content Placeholder 2">
            <a:extLst>
              <a:ext uri="{FF2B5EF4-FFF2-40B4-BE49-F238E27FC236}">
                <a16:creationId xmlns:a16="http://schemas.microsoft.com/office/drawing/2014/main" id="{DE8F4813-A7A0-E364-6099-F49578A04A26}"/>
              </a:ext>
            </a:extLst>
          </p:cNvPr>
          <p:cNvSpPr>
            <a:spLocks noGrp="1"/>
          </p:cNvSpPr>
          <p:nvPr>
            <p:ph idx="1"/>
          </p:nvPr>
        </p:nvSpPr>
        <p:spPr/>
        <p:txBody>
          <a:bodyPr>
            <a:normAutofit/>
          </a:bodyPr>
          <a:lstStyle/>
          <a:p>
            <a:r>
              <a:rPr lang="es-ES_tradnl" dirty="0"/>
              <a:t>Las variables pueden tomar nombres varios. Es mejor que sea informativo (no como hasta ahora, que hemos nombrado variables </a:t>
            </a:r>
            <a:r>
              <a:rPr lang="es-ES_tradnl" dirty="0">
                <a:latin typeface="Ubuntu Mono" panose="020B0509030602030204" pitchFamily="49" charset="0"/>
              </a:rPr>
              <a:t>a</a:t>
            </a:r>
            <a:r>
              <a:rPr lang="es-ES_tradnl" dirty="0"/>
              <a:t>, </a:t>
            </a:r>
            <a:r>
              <a:rPr lang="es-ES_tradnl" dirty="0">
                <a:latin typeface="Ubuntu Mono" panose="020B0509030602030204" pitchFamily="49" charset="0"/>
              </a:rPr>
              <a:t>b</a:t>
            </a:r>
            <a:r>
              <a:rPr lang="es-ES_tradnl" dirty="0"/>
              <a:t> o </a:t>
            </a:r>
            <a:r>
              <a:rPr lang="es-ES_tradnl" dirty="0">
                <a:latin typeface="Ubuntu Mono" panose="020B0509030602030204" pitchFamily="49" charset="0"/>
              </a:rPr>
              <a:t>c</a:t>
            </a:r>
            <a:r>
              <a:rPr lang="es-ES_tradnl" dirty="0"/>
              <a:t>), para que les ayude a recordar qué era o hacía cada objeto. </a:t>
            </a:r>
          </a:p>
          <a:p>
            <a:r>
              <a:rPr lang="es-ES_tradnl" dirty="0"/>
              <a:t>Reglas de nombres:</a:t>
            </a:r>
          </a:p>
          <a:p>
            <a:pPr lvl="1"/>
            <a:r>
              <a:rPr lang="es-ES_tradnl" dirty="0"/>
              <a:t>Debe empezar con una letra, no un número. Puede contener un número como parte del nombre. </a:t>
            </a:r>
          </a:p>
          <a:p>
            <a:pPr lvl="1"/>
            <a:r>
              <a:rPr lang="es-ES_tradnl" dirty="0"/>
              <a:t>No puede contener espacios.</a:t>
            </a:r>
          </a:p>
          <a:p>
            <a:pPr lvl="1"/>
            <a:r>
              <a:rPr lang="es-ES_tradnl" dirty="0"/>
              <a:t>No puede ser una variable predefinida en R.</a:t>
            </a:r>
          </a:p>
          <a:p>
            <a:pPr lvl="1"/>
            <a:r>
              <a:rPr lang="es-ES_tradnl" dirty="0"/>
              <a:t>Se prefiere usar minúsculas, y guiones bajos para sustituir espacios.</a:t>
            </a:r>
          </a:p>
          <a:p>
            <a:pPr lvl="1"/>
            <a:endParaRPr lang="es-ES_tradnl" dirty="0"/>
          </a:p>
        </p:txBody>
      </p:sp>
    </p:spTree>
    <p:extLst>
      <p:ext uri="{BB962C8B-B14F-4D97-AF65-F5344CB8AC3E}">
        <p14:creationId xmlns:p14="http://schemas.microsoft.com/office/powerpoint/2010/main" val="377635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F3C85C-8808-4B1D-A5EC-8E01588EEC70}"/>
              </a:ext>
            </a:extLst>
          </p:cNvPr>
          <p:cNvSpPr>
            <a:spLocks noGrp="1"/>
          </p:cNvSpPr>
          <p:nvPr>
            <p:ph type="title"/>
          </p:nvPr>
        </p:nvSpPr>
        <p:spPr/>
        <p:txBody>
          <a:bodyPr/>
          <a:lstStyle/>
          <a:p>
            <a:r>
              <a:rPr lang="es-ES_tradnl" dirty="0"/>
              <a:t>Empezando por fin.</a:t>
            </a:r>
          </a:p>
        </p:txBody>
      </p:sp>
      <p:sp>
        <p:nvSpPr>
          <p:cNvPr id="3" name="Marcador de contenido 2">
            <a:extLst>
              <a:ext uri="{FF2B5EF4-FFF2-40B4-BE49-F238E27FC236}">
                <a16:creationId xmlns:a16="http://schemas.microsoft.com/office/drawing/2014/main" id="{0FDECEB4-7A14-94B3-E234-15EAA298FEA4}"/>
              </a:ext>
            </a:extLst>
          </p:cNvPr>
          <p:cNvSpPr>
            <a:spLocks noGrp="1"/>
          </p:cNvSpPr>
          <p:nvPr>
            <p:ph idx="1"/>
          </p:nvPr>
        </p:nvSpPr>
        <p:spPr/>
        <p:txBody>
          <a:bodyPr/>
          <a:lstStyle/>
          <a:p>
            <a:r>
              <a:rPr lang="es-ES_tradnl" dirty="0"/>
              <a:t>Continuaremos el taller sin presentación (aunque  hay documento en HTML y </a:t>
            </a:r>
            <a:r>
              <a:rPr lang="es-ES_tradnl" dirty="0" err="1"/>
              <a:t>Quarto</a:t>
            </a:r>
            <a:r>
              <a:rPr lang="es-ES_tradnl" dirty="0"/>
              <a:t> para familiarizarnos con las partes de este conjunto de herramientas).</a:t>
            </a:r>
          </a:p>
          <a:p>
            <a:r>
              <a:rPr lang="es-ES_tradnl" dirty="0"/>
              <a:t>Seguimos en </a:t>
            </a:r>
            <a:r>
              <a:rPr lang="es-ES_tradnl" dirty="0" err="1"/>
              <a:t>RStudio</a:t>
            </a:r>
            <a:r>
              <a:rPr lang="es-ES_tradnl" dirty="0"/>
              <a:t>.</a:t>
            </a:r>
          </a:p>
        </p:txBody>
      </p:sp>
    </p:spTree>
    <p:extLst>
      <p:ext uri="{BB962C8B-B14F-4D97-AF65-F5344CB8AC3E}">
        <p14:creationId xmlns:p14="http://schemas.microsoft.com/office/powerpoint/2010/main" val="304732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2CE3-B594-D899-762B-E8B39406617A}"/>
              </a:ext>
            </a:extLst>
          </p:cNvPr>
          <p:cNvSpPr>
            <a:spLocks noGrp="1"/>
          </p:cNvSpPr>
          <p:nvPr>
            <p:ph type="title"/>
          </p:nvPr>
        </p:nvSpPr>
        <p:spPr/>
        <p:txBody>
          <a:bodyPr/>
          <a:lstStyle/>
          <a:p>
            <a:r>
              <a:rPr lang="es-ES_tradnl" dirty="0"/>
              <a:t>Tipos de datos</a:t>
            </a:r>
          </a:p>
        </p:txBody>
      </p:sp>
      <p:sp>
        <p:nvSpPr>
          <p:cNvPr id="3" name="Content Placeholder 2">
            <a:extLst>
              <a:ext uri="{FF2B5EF4-FFF2-40B4-BE49-F238E27FC236}">
                <a16:creationId xmlns:a16="http://schemas.microsoft.com/office/drawing/2014/main" id="{649B0E57-85FB-3030-5C68-3143ED8DF5BC}"/>
              </a:ext>
            </a:extLst>
          </p:cNvPr>
          <p:cNvSpPr>
            <a:spLocks noGrp="1"/>
          </p:cNvSpPr>
          <p:nvPr>
            <p:ph idx="1"/>
          </p:nvPr>
        </p:nvSpPr>
        <p:spPr/>
        <p:txBody>
          <a:bodyPr>
            <a:normAutofit/>
          </a:bodyPr>
          <a:lstStyle/>
          <a:p>
            <a:r>
              <a:rPr lang="es-ES_tradnl" dirty="0"/>
              <a:t>Las variables u objetos en R pueden tener varios tipos y dependiendo de ellos podremos hacer varias cosas o vernos limitados en qué podemos hacer.</a:t>
            </a:r>
          </a:p>
          <a:p>
            <a:r>
              <a:rPr lang="es-ES_tradnl" dirty="0"/>
              <a:t>Los datos se categorizan en clase y estructura. </a:t>
            </a:r>
          </a:p>
          <a:p>
            <a:pPr lvl="1"/>
            <a:r>
              <a:rPr lang="es-ES_tradnl" dirty="0"/>
              <a:t>Hay objetos escalares y matrices y vectores de varios tipos. </a:t>
            </a:r>
          </a:p>
          <a:p>
            <a:pPr lvl="2"/>
            <a:r>
              <a:rPr lang="es-ES_tradnl" dirty="0"/>
              <a:t>Los data </a:t>
            </a:r>
            <a:r>
              <a:rPr lang="es-ES_tradnl" dirty="0" err="1"/>
              <a:t>frames</a:t>
            </a:r>
            <a:r>
              <a:rPr lang="es-ES_tradnl" dirty="0"/>
              <a:t>, listas y matrices son variaciones de múltiples filas y/o columnas.</a:t>
            </a:r>
          </a:p>
          <a:p>
            <a:pPr lvl="2"/>
            <a:r>
              <a:rPr lang="es-ES_tradnl" dirty="0"/>
              <a:t>Los vectores son una fila o columna de información concatenada.</a:t>
            </a:r>
          </a:p>
          <a:p>
            <a:pPr lvl="1"/>
            <a:r>
              <a:rPr lang="es-ES_tradnl" dirty="0"/>
              <a:t>En cuestión de clases, los datos pueden ser numéricos, de caracteres, factores y lógicos. </a:t>
            </a:r>
          </a:p>
          <a:p>
            <a:pPr lvl="1"/>
            <a:r>
              <a:rPr lang="es-ES_tradnl" dirty="0"/>
              <a:t>Estos se pueden convertir de un formato a otro, pero ¡ojo! Esta coerción o conversión forzada puede provocar errores varios.</a:t>
            </a:r>
          </a:p>
        </p:txBody>
      </p:sp>
    </p:spTree>
    <p:extLst>
      <p:ext uri="{BB962C8B-B14F-4D97-AF65-F5344CB8AC3E}">
        <p14:creationId xmlns:p14="http://schemas.microsoft.com/office/powerpoint/2010/main" val="39049311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TotalTime>
  <Words>1156</Words>
  <Application>Microsoft Macintosh PowerPoint</Application>
  <PresentationFormat>Panorámica</PresentationFormat>
  <Paragraphs>58</Paragraphs>
  <Slides>10</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Aptos</vt:lpstr>
      <vt:lpstr>Aptos Display</vt:lpstr>
      <vt:lpstr>Arial</vt:lpstr>
      <vt:lpstr>Calibri</vt:lpstr>
      <vt:lpstr>Fira Sans</vt:lpstr>
      <vt:lpstr>Ubuntu</vt:lpstr>
      <vt:lpstr>Ubuntu Mono</vt:lpstr>
      <vt:lpstr>Tema de Office</vt:lpstr>
      <vt:lpstr>R y RStudio para cómputos</vt:lpstr>
      <vt:lpstr>R</vt:lpstr>
      <vt:lpstr>RStudio</vt:lpstr>
      <vt:lpstr>Lo básico de r</vt:lpstr>
      <vt:lpstr>OPCIONES GLOBALES</vt:lpstr>
      <vt:lpstr>modularidad::paquetes</vt:lpstr>
      <vt:lpstr>Funciones</vt:lpstr>
      <vt:lpstr>Nombres de variables</vt:lpstr>
      <vt:lpstr>Empezando por fin.</vt:lpstr>
      <vt:lpstr>Tipos de datos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Rashid Carlos Jamil Marcano Rivera</dc:creator>
  <cp:lastModifiedBy>Rashid Marcano Rivera</cp:lastModifiedBy>
  <cp:revision>3</cp:revision>
  <dcterms:created xsi:type="dcterms:W3CDTF">2025-09-26T15:27:16Z</dcterms:created>
  <dcterms:modified xsi:type="dcterms:W3CDTF">2025-11-12T18:40:49Z</dcterms:modified>
</cp:coreProperties>
</file>